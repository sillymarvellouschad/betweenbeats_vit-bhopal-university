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7534E"/>
                </a:solidFill>
                <a:latin typeface="Arial"/>
              </a:defRPr>
            </a:pPr>
            <a:r>
              <a:rPr sz="1300" b="0" i="0" u="none" strike="noStrike">
                <a:solidFill>
                  <a:srgbClr val="57534E"/>
                </a:solidFill>
                <a:latin typeface="Arial"/>
              </a:rPr>
              <a:t>AUROC: K ≥ 6.0 before next session (200 unseen patients)</a:t>
            </a:r>
          </a:p>
        </c:rich>
      </c:tx>
      <c:layout/>
      <c:overlay val="0"/>
    </c:title>
    <c:autoTitleDeleted val="0"/>
    <c:plotArea>
      <c:layout/>
      <c:barChart>
        <c:barDir val="bar"/>
        <c:grouping val="clustered"/>
        <c:varyColors val="0"/>
        <c:ser>
          <c:idx val="0"/>
          <c:order val="0"/>
          <c:tx>
            <c:strRef>
              <c:f>Sheet1!$B$1</c:f>
              <c:strCache>
                <c:ptCount val="1"/>
                <c:pt idx="0">
                  <c:v>AUROC</c:v>
                </c:pt>
              </c:strCache>
            </c:strRef>
          </c:tx>
          <c:spPr>
            <a:solidFill>
              <a:srgbClr val="A8A29E"/>
            </a:solidFill>
            <a:effectLst/>
          </c:spPr>
          <c:invertIfNegative val="0"/>
          <c:dLbls>
            <c:numFmt formatCode="0.000" sourceLinked="0"/>
            <c:txPr>
              <a:bodyPr/>
              <a:lstStyle/>
              <a:p>
                <a:pPr>
                  <a:defRPr b="0" i="0" strike="noStrike" sz="1200" u="none">
                    <a:solidFill>
                      <a:srgbClr val="1C1917"/>
                    </a:solidFill>
                    <a:latin typeface="Arial"/>
                  </a:defRPr>
                </a:pPr>
              </a:p>
            </c:txPr>
            <c:showLegendKey val="0"/>
            <c:showVal val="1"/>
            <c:showCatName val="0"/>
            <c:showSerName val="0"/>
            <c:showPercent val="0"/>
            <c:showBubbleSize val="0"/>
            <c:showLeaderLines val="0"/>
          </c:dLbls>
          <c:dPt>
            <c:idx val="0"/>
            <c:invertIfNegative val="0"/>
            <c:bubble3D val="0"/>
            <c:spPr>
              <a:solidFill>
                <a:srgbClr val="A8A29E"/>
              </a:solidFill>
              <a:effectLst/>
            </c:spPr>
          </c:dPt>
          <c:dPt>
            <c:idx val="1"/>
            <c:invertIfNegative val="0"/>
            <c:bubble3D val="0"/>
            <c:spPr>
              <a:solidFill>
                <a:srgbClr val="A78BFA"/>
              </a:solidFill>
              <a:effectLst/>
            </c:spPr>
          </c:dPt>
          <c:dPt>
            <c:idx val="2"/>
            <c:invertIfNegative val="0"/>
            <c:bubble3D val="0"/>
            <c:spPr>
              <a:solidFill>
                <a:srgbClr val="F59E0B"/>
              </a:solidFill>
              <a:effectLst/>
            </c:spPr>
          </c:dPt>
          <c:dPt>
            <c:idx val="3"/>
            <c:invertIfNegative val="0"/>
            <c:bubble3D val="0"/>
            <c:spPr>
              <a:solidFill>
                <a:srgbClr val="14B8A6"/>
              </a:solidFill>
              <a:effectLst/>
            </c:spPr>
          </c:dPt>
          <c:dPt>
            <c:idx val="4"/>
            <c:invertIfNegative val="0"/>
            <c:bubble3D val="0"/>
            <c:spPr>
              <a:solidFill>
                <a:srgbClr val="0F766E"/>
              </a:solidFill>
              <a:effectLst/>
            </c:spPr>
          </c:dPt>
          <c:cat>
            <c:multiLvlStrRef>
              <c:f>Sheet1!$A$2:$A$6</c:f>
              <c:multiLvlStrCache>
                <c:ptCount val="5"/>
                <c:lvl>
                  <c:pt idx="0">
                    <c:v>Last monthly lab (today)</c:v>
                  </c:pt>
                  <c:pt idx="1">
                    <c:v>Smartwatch ECG alone</c:v>
                  </c:pt>
                  <c:pt idx="2">
                    <c:v>Physics-only twin</c:v>
                  </c:pt>
                  <c:pt idx="3">
                    <c:v>Twin with wearables</c:v>
                  </c:pt>
                  <c:pt idx="4">
                    <c:v>Antaral final</c:v>
                  </c:pt>
                </c:lvl>
              </c:multiLvlStrCache>
            </c:multiLvlStrRef>
          </c:cat>
          <c:val>
            <c:numRef>
              <c:f>Sheet1!$B$2:$B$6</c:f>
              <c:numCache>
                <c:formatCode>General</c:formatCode>
                <c:ptCount val="5"/>
                <c:pt idx="0">
                  <c:v>0.899</c:v>
                </c:pt>
                <c:pt idx="1">
                  <c:v>0.84</c:v>
                </c:pt>
                <c:pt idx="2">
                  <c:v>0.912</c:v>
                </c:pt>
                <c:pt idx="3">
                  <c:v>0.937</c:v>
                </c:pt>
                <c:pt idx="4">
                  <c:v>0.966</c:v>
                </c:pt>
              </c:numCache>
            </c:numRef>
          </c:val>
        </c:ser>
        <c:dLbls>
          <c:numFmt formatCode="0.000" sourceLinked="0"/>
          <c:txPr>
            <a:bodyPr/>
            <a:lstStyle/>
            <a:p>
              <a:pPr>
                <a:defRPr b="0" i="0" strike="noStrike" sz="1200" u="none">
                  <a:solidFill>
                    <a:srgbClr val="1C191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C1917"/>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b"/>
        <c:majorGridlines>
          <c:spPr>
            <a:ln w="635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7534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7534E"/>
                </a:solidFill>
                <a:latin typeface="Arial"/>
              </a:defRPr>
            </a:pPr>
            <a:r>
              <a:rPr sz="1300" b="0" i="0" u="none" strike="noStrike">
                <a:solidFill>
                  <a:srgbClr val="57534E"/>
                </a:solidFill>
                <a:latin typeface="Arial"/>
              </a:rPr>
              <a:t>Reduction vs today's fixed schedule (60-patient unit)</a:t>
            </a:r>
          </a:p>
        </c:rich>
      </c:tx>
      <c:layout/>
      <c:overlay val="0"/>
    </c:title>
    <c:autoTitleDeleted val="0"/>
    <c:plotArea>
      <c:layout/>
      <c:barChart>
        <c:barDir val="col"/>
        <c:grouping val="clustered"/>
        <c:varyColors val="0"/>
        <c:ser>
          <c:idx val="0"/>
          <c:order val="0"/>
          <c:tx>
            <c:strRef>
              <c:f>Sheet1!$B$1</c:f>
              <c:strCache>
                <c:ptCount val="1"/>
                <c:pt idx="0">
                  <c:v>Reduction vs fixed schedule (%)</c:v>
                </c:pt>
              </c:strCache>
            </c:strRef>
          </c:tx>
          <c:spPr>
            <a:solidFill>
              <a:srgbClr val="0F766E"/>
            </a:solidFill>
            <a:effectLst/>
          </c:spPr>
          <c:invertIfNegative val="0"/>
          <c:dLbls>
            <c:numFmt formatCode="0.0&quot;%&quot;" sourceLinked="0"/>
            <c:txPr>
              <a:bodyPr/>
              <a:lstStyle/>
              <a:p>
                <a:pPr>
                  <a:defRPr b="0" i="0" strike="noStrike" sz="1300" u="none">
                    <a:solidFill>
                      <a:srgbClr val="1C1917"/>
                    </a:solidFill>
                    <a:latin typeface="Arial"/>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14B8A6"/>
              </a:solidFill>
              <a:effectLst/>
            </c:spPr>
          </c:dPt>
          <c:dPt>
            <c:idx val="2"/>
            <c:invertIfNegative val="0"/>
            <c:bubble3D val="0"/>
            <c:spPr>
              <a:solidFill>
                <a:srgbClr val="5EEAD4"/>
              </a:solidFill>
              <a:effectLst/>
            </c:spPr>
          </c:dPt>
          <c:dPt>
            <c:idx val="3"/>
            <c:invertIfNegative val="0"/>
            <c:bubble3D val="0"/>
            <c:spPr>
              <a:solidFill>
                <a:srgbClr val="D6D3D1"/>
              </a:solidFill>
              <a:effectLst/>
            </c:spPr>
          </c:dPt>
          <c:cat>
            <c:multiLvlStrRef>
              <c:f>Sheet1!$A$2:$A$5</c:f>
              <c:multiLvlStrCache>
                <c:ptCount val="4"/>
                <c:lvl>
                  <c:pt idx="0">
                    <c:v>Arrive at dialysis with K ≥ 6</c:v>
                  </c:pt>
                  <c:pt idx="1">
                    <c:v>Episodes of K ≥ 6</c:v>
                  </c:pt>
                  <c:pt idx="2">
                    <c:v>Hours at K ≥ 6</c:v>
                  </c:pt>
                  <c:pt idx="3">
                    <c:v>Hours at K ≥ 7</c:v>
                  </c:pt>
                </c:lvl>
              </c:multiLvlStrCache>
            </c:multiLvlStrRef>
          </c:cat>
          <c:val>
            <c:numRef>
              <c:f>Sheet1!$B$2:$B$5</c:f>
              <c:numCache>
                <c:formatCode>General</c:formatCode>
                <c:ptCount val="4"/>
                <c:pt idx="0">
                  <c:v>14.8</c:v>
                </c:pt>
                <c:pt idx="1">
                  <c:v>11.2</c:v>
                </c:pt>
                <c:pt idx="2">
                  <c:v>5.4</c:v>
                </c:pt>
                <c:pt idx="3">
                  <c:v>-0.7</c:v>
                </c:pt>
              </c:numCache>
            </c:numRef>
          </c:val>
        </c:ser>
        <c:dLbls>
          <c:numFmt formatCode="0.0&quot;%&quot;" sourceLinked="0"/>
          <c:txPr>
            <a:bodyPr/>
            <a:lstStyle/>
            <a:p>
              <a:pPr>
                <a:defRPr b="0" i="0" strike="noStrike" sz="1300" u="none">
                  <a:solidFill>
                    <a:srgbClr val="1C1917"/>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1917"/>
                </a:solidFill>
                <a:latin typeface="Arial"/>
              </a:defRPr>
            </a:pPr>
            <a:endParaRPr lang="en-US"/>
          </a:p>
        </c:txPr>
        <c:crossAx val="2094734552"/>
        <c:crosses val="autoZero"/>
        <c:auto val="1"/>
        <c:lblAlgn val="ctr"/>
        <c:noMultiLvlLbl val="1"/>
      </c:catAx>
      <c:valAx>
        <c:axId val="2094734552"/>
        <c:scaling>
          <c:orientation val="minMax"/>
          <c:max val="20"/>
          <c:min val="-5"/>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7534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Nishant from VIT Bhopal, and this is Antaral, which means 'the interval' in Hindi. For a person on dialysis, the interval between sessions is where the danger lives. Antaral is a digital twin that watches that interval, predicts dangerous potassium before it happens, and helps the dialysis unit decide who needs a chair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India many patients dialyse twice a week instead of three times, because of cost and machine shortages. At one Bengaluru centre it was about thirty percent. Between sessions potassium builds up silently, and high potassium can stop the heart. A large US study showed deaths cluster on the day after the long gap. And yet clinics are nearly blind in between: a monthly lab and fixed weekdays.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this concrete. Lakshmi is one of our synthetic patients: 58, diabetic, on an ARB, dialysis Monday and Thursday. She drank coconut water twice, which many people think is healthy, but it's loaded with potassium. Tonight her smartwatch ECG shows a peaked T wave. Her next lab is weeks away. Should she come in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Antaral works at three levels. A patient twin that tracks each person's potassium. A risk layer that turns it into a calibrated warning with reasons. And a unit twin, which is the twist: every evening it re-plans tomorrow's chairs. Finally the doctor approves. Nothing happens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asked for fusion of static and dynamic data. Static: the EHR, including drugs that raise potassium and residual urine output. Dynamic: a smartwatch ECG twice a day, weight, steps, heart rate, sleep, and a food diary with very Indian potassium sources. Plus the unit's own records. Everything is synthetic, generated by our simulator, which also hides physiology the twin never sees, so the evaluation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patient twin is a mechanistic model of potassium: what you eat, minus what your gut and any remaining kidney function remove, spread over a buffering volume. Dialysis pulls it down toward the bath and it rebounds after. A Kalman filter corrects the model every hour with labs and ECG estimates, and learns a personal drift. Here's Lakshmi: the twin, solid line, tracks the hidden truth, dotted, and the forecast shows danger before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bloodless potassium sensor. High potassium makes the T wave taller and narrower. We measure features from the smartwatch's median beat and compare them with the patient's own beat right after dialysis, when potassium is known to be low. Mean error is half a mEq per litre, which is noisy on purpose, so the twin treats it as a weak sensor. Mayo Clinic research showed deep learning can detect hyperkalaemia from ECGs, so this is grounded in real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on two hundred synthetic patients the models never saw. Today's practice, the last monthly lab, scores an AUROC of 0.899. The ECG alone is noisy at 0.84. Our physics-only twin is 0.91. Fusing it with wearables gets 0.937, and the final model 0.966. At ninety percent specificity we catch 89 percent of dangerous nights versus 70. And the key number is 0.85 within a patient: the lab knows who runs high; Antaral knows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twist. Each evening an integer programme decides tomorrow's chairs, using the twin's what-if forecasts. It never adds sessions or machines. It looks at both upcoming gaps, because pulling someone in early makes their next gap longer. In simulation, fifteen percent fewer patients arrive at dialysis with dangerous potassium, consistent across all six replicate units. Notice the last bar: it does not reduce time above 7. I'll come back to that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Lakshmi. The obvious answer is to bring her in tomorrow. The twin disagrees: moving her to Wednesday stretches her next gap to five days and makes things worse overall. So it keeps Thursday, gives Wednesday's chairs to two patients it can really help, and flags Lakshmi for a different action, like a binder or a call about the coconut water. That's the value of a twin over a classifier: it reasons about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prototype, built in Streamlit. On the left, tonight's review for the whole unit: suggested moves the doctor approves, a chair board for tomorrow, and a risk table. On the right, Lakshmi's twin with her potassium history, the forecast, her ECG against her baseline, and a what-if panel. I'll demo it live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limits. Re-timing doesn't reduce the most extreme hours, because those patients need more dialysis. The scheduler still makes more changes than a real unit would accept. And everything is synthetic. Next steps: validate on MIMIC-IV, use real smartwatch ECG exports, add dose alerts, and pilot with an Indian dialysis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Antaral: same chairs, same sessions, fewer people arriving in danger. Everything is open source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2E"/>
        </a:solidFill>
      </p:bgPr>
    </p:bg>
    <p:spTree>
      <p:nvGrpSpPr>
        <p:cNvPr id="1" name=""/>
        <p:cNvGrpSpPr/>
        <p:nvPr/>
      </p:nvGrpSpPr>
      <p:grpSpPr>
        <a:xfrm>
          <a:off x="0" y="0"/>
          <a:ext cx="0" cy="0"/>
          <a:chOff x="0" y="0"/>
          <a:chExt cx="0" cy="0"/>
        </a:xfrm>
      </p:grpSpPr>
      <p:pic>
        <p:nvPicPr>
          <p:cNvPr id="2" name="Image 0" descr="/home/claude/antaral/docs/deck_assets/hero_trace.png">    </p:cNvPr>
          <p:cNvPicPr>
            <a:picLocks noChangeAspect="1"/>
          </p:cNvPicPr>
          <p:nvPr/>
        </p:nvPicPr>
        <p:blipFill>
          <a:blip r:embed="rId1">
            <a:alphaModFix amt="90000"/>
          </a:blip>
          <a:stretch>
            <a:fillRect/>
          </a:stretch>
        </p:blipFill>
        <p:spPr>
          <a:xfrm>
            <a:off x="548640" y="640080"/>
            <a:ext cx="11064240" cy="1993392"/>
          </a:xfrm>
          <a:prstGeom prst="rect">
            <a:avLst/>
          </a:prstGeom>
        </p:spPr>
      </p:pic>
      <p:sp>
        <p:nvSpPr>
          <p:cNvPr id="3" name="Shape 0"/>
          <p:cNvSpPr/>
          <p:nvPr/>
        </p:nvSpPr>
        <p:spPr>
          <a:xfrm>
            <a:off x="548640" y="2971800"/>
            <a:ext cx="640080" cy="640080"/>
          </a:xfrm>
          <a:prstGeom prst="ellipse">
            <a:avLst/>
          </a:prstGeom>
          <a:solidFill>
            <a:srgbClr val="134E4A"/>
          </a:solidFill>
          <a:ln w="15875">
            <a:solidFill>
              <a:srgbClr val="5EEAD4"/>
            </a:solidFill>
            <a:prstDash val="solid"/>
          </a:ln>
        </p:spPr>
      </p:sp>
      <p:sp>
        <p:nvSpPr>
          <p:cNvPr id="4" name="Text 1"/>
          <p:cNvSpPr txBox="1"/>
          <p:nvPr/>
        </p:nvSpPr>
        <p:spPr>
          <a:xfrm>
            <a:off x="548640" y="2971800"/>
            <a:ext cx="640080" cy="640080"/>
          </a:xfrm>
          <a:prstGeom prst="rect">
            <a:avLst/>
          </a:prstGeom>
          <a:noFill/>
          <a:ln/>
        </p:spPr>
        <p:txBody>
          <a:bodyPr wrap="square" lIns="0" tIns="0" rIns="0" bIns="0" rtlCol="0" anchor="ctr"/>
          <a:lstStyle/>
          <a:p>
            <a:pPr algn="ctr" indent="0" marL="0">
              <a:buNone/>
            </a:pPr>
            <a:r>
              <a:rPr lang="en-US" sz="1820" b="1" dirty="0">
                <a:solidFill>
                  <a:srgbClr val="5EEAD4"/>
                </a:solidFill>
                <a:latin typeface="Cambria" pitchFamily="34" charset="0"/>
                <a:ea typeface="Cambria" pitchFamily="34" charset="-122"/>
                <a:cs typeface="Cambria" pitchFamily="34" charset="-120"/>
              </a:rPr>
              <a:t>K</a:t>
            </a:r>
            <a:pPr algn="ctr" indent="0" marL="0">
              <a:buNone/>
            </a:pPr>
            <a:r>
              <a:rPr lang="en-US" sz="1820" b="1" baseline="30000" dirty="0">
                <a:solidFill>
                  <a:srgbClr val="5EEAD4"/>
                </a:solidFill>
                <a:latin typeface="Cambria" pitchFamily="34" charset="0"/>
                <a:ea typeface="Cambria" pitchFamily="34" charset="-122"/>
                <a:cs typeface="Cambria" pitchFamily="34" charset="-120"/>
              </a:rPr>
              <a:t>+</a:t>
            </a:r>
            <a:endParaRPr lang="en-US" sz="1820" dirty="0"/>
          </a:p>
        </p:txBody>
      </p:sp>
      <p:sp>
        <p:nvSpPr>
          <p:cNvPr id="5" name="Text 2"/>
          <p:cNvSpPr txBox="1"/>
          <p:nvPr/>
        </p:nvSpPr>
        <p:spPr>
          <a:xfrm>
            <a:off x="1371600" y="2788920"/>
            <a:ext cx="7315200" cy="100584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Antaral</a:t>
            </a:r>
            <a:endParaRPr lang="en-US" sz="6400" dirty="0"/>
          </a:p>
        </p:txBody>
      </p:sp>
      <p:sp>
        <p:nvSpPr>
          <p:cNvPr id="6" name="Text 3"/>
          <p:cNvSpPr txBox="1"/>
          <p:nvPr/>
        </p:nvSpPr>
        <p:spPr>
          <a:xfrm>
            <a:off x="1371600" y="3749040"/>
            <a:ext cx="7315200" cy="457200"/>
          </a:xfrm>
          <a:prstGeom prst="rect">
            <a:avLst/>
          </a:prstGeom>
          <a:noFill/>
          <a:ln/>
        </p:spPr>
        <p:txBody>
          <a:bodyPr wrap="square" lIns="0" tIns="0" rIns="0" bIns="0" rtlCol="0" anchor="ctr"/>
          <a:lstStyle/>
          <a:p>
            <a:pPr indent="0" marL="0">
              <a:buNone/>
            </a:pPr>
            <a:r>
              <a:rPr lang="en-US" sz="2000" dirty="0">
                <a:solidFill>
                  <a:srgbClr val="5EEAD4"/>
                </a:solidFill>
                <a:latin typeface="Calibri" pitchFamily="34" charset="0"/>
                <a:ea typeface="Calibri" pitchFamily="34" charset="-122"/>
                <a:cs typeface="Calibri" pitchFamily="34" charset="-120"/>
              </a:rPr>
              <a:t>अंतराल  ·  the interval</a:t>
            </a:r>
            <a:endParaRPr lang="en-US" sz="2000" dirty="0"/>
          </a:p>
        </p:txBody>
      </p:sp>
      <p:sp>
        <p:nvSpPr>
          <p:cNvPr id="7" name="Text 4"/>
          <p:cNvSpPr txBox="1"/>
          <p:nvPr/>
        </p:nvSpPr>
        <p:spPr>
          <a:xfrm>
            <a:off x="548640" y="4434840"/>
            <a:ext cx="10972800" cy="548640"/>
          </a:xfrm>
          <a:prstGeom prst="rect">
            <a:avLst/>
          </a:prstGeom>
          <a:noFill/>
          <a:ln/>
        </p:spPr>
        <p:txBody>
          <a:bodyPr wrap="square" lIns="0" tIns="0" rIns="0" bIns="0" rtlCol="0" anchor="ctr"/>
          <a:lstStyle/>
          <a:p>
            <a:pPr indent="0" marL="0">
              <a:buNone/>
            </a:pPr>
            <a:r>
              <a:rPr lang="en-US" sz="2600" i="1" dirty="0">
                <a:solidFill>
                  <a:srgbClr val="E6F4F1"/>
                </a:solidFill>
                <a:latin typeface="Cambria" pitchFamily="34" charset="0"/>
                <a:ea typeface="Cambria" pitchFamily="34" charset="-122"/>
                <a:cs typeface="Cambria" pitchFamily="34" charset="-120"/>
              </a:rPr>
              <a:t>A digital twin for the gap between dialysis sessions</a:t>
            </a:r>
            <a:endParaRPr lang="en-US" sz="2600" dirty="0"/>
          </a:p>
        </p:txBody>
      </p:sp>
      <p:sp>
        <p:nvSpPr>
          <p:cNvPr id="8" name="Text 5"/>
          <p:cNvSpPr txBox="1"/>
          <p:nvPr/>
        </p:nvSpPr>
        <p:spPr>
          <a:xfrm>
            <a:off x="548640" y="5257800"/>
            <a:ext cx="8229600" cy="1005840"/>
          </a:xfrm>
          <a:prstGeom prst="rect">
            <a:avLst/>
          </a:prstGeom>
          <a:noFill/>
          <a:ln/>
        </p:spPr>
        <p:txBody>
          <a:bodyPr wrap="square" lIns="0" tIns="0" rIns="0" bIns="0" rtlCol="0" anchor="ctr"/>
          <a:lstStyle/>
          <a:p>
            <a:pPr indent="0" marL="0">
              <a:spcAft>
                <a:spcPts val="300"/>
              </a:spcAft>
              <a:buNone/>
            </a:pPr>
            <a:r>
              <a:rPr lang="en-US" sz="1500" b="1" dirty="0">
                <a:solidFill>
                  <a:srgbClr val="FFFFFF"/>
                </a:solidFill>
                <a:latin typeface="Calibri" pitchFamily="34" charset="0"/>
                <a:ea typeface="Calibri" pitchFamily="34" charset="-122"/>
                <a:cs typeface="Calibri" pitchFamily="34" charset="-120"/>
              </a:rPr>
              <a:t>Team Between Beats</a:t>
            </a:r>
            <a:endParaRPr lang="en-US" sz="1500" dirty="0"/>
          </a:p>
          <a:p>
            <a:pPr indent="0" marL="0">
              <a:spcAft>
                <a:spcPts val="300"/>
              </a:spcAft>
              <a:buNone/>
            </a:pPr>
            <a:r>
              <a:rPr lang="en-US" sz="1500" dirty="0">
                <a:solidFill>
                  <a:srgbClr val="B8D4D0"/>
                </a:solidFill>
                <a:latin typeface="Calibri" pitchFamily="34" charset="0"/>
                <a:ea typeface="Calibri" pitchFamily="34" charset="-122"/>
                <a:cs typeface="Calibri" pitchFamily="34" charset="-120"/>
              </a:rPr>
              <a:t>Nishant Majumdar  ·  B.Tech CSE, VIT Bhopal University</a:t>
            </a:r>
            <a:endParaRPr lang="en-US" sz="1500" dirty="0"/>
          </a:p>
          <a:p>
            <a:pPr indent="0" marL="0">
              <a:spcAft>
                <a:spcPts val="300"/>
              </a:spcAft>
              <a:buNone/>
            </a:pPr>
            <a:r>
              <a:rPr lang="en-US" sz="1500" dirty="0">
                <a:solidFill>
                  <a:srgbClr val="B8D4D0"/>
                </a:solidFill>
                <a:latin typeface="Calibri" pitchFamily="34" charset="0"/>
                <a:ea typeface="Calibri" pitchFamily="34" charset="-122"/>
                <a:cs typeface="Calibri" pitchFamily="34" charset="-120"/>
              </a:rPr>
              <a:t>Digital Twin Challenge 2026  ·  Happiest Health</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412748"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1412748"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THE PROBLEM</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The danger lives in the gap between sessions</a:t>
            </a:r>
            <a:endParaRPr lang="en-US" sz="3400" dirty="0"/>
          </a:p>
        </p:txBody>
      </p:sp>
      <p:sp>
        <p:nvSpPr>
          <p:cNvPr id="5" name="Shape 3"/>
          <p:cNvSpPr/>
          <p:nvPr/>
        </p:nvSpPr>
        <p:spPr>
          <a:xfrm>
            <a:off x="548640" y="1965960"/>
            <a:ext cx="2606040" cy="3291840"/>
          </a:xfrm>
          <a:prstGeom prst="roundRect">
            <a:avLst>
              <a:gd name="adj" fmla="val 4211"/>
            </a:avLst>
          </a:prstGeom>
          <a:solidFill>
            <a:srgbClr val="F0FDFA"/>
          </a:solidFill>
          <a:ln w="12700">
            <a:solidFill>
              <a:srgbClr val="FFFFFF"/>
            </a:solidFill>
            <a:prstDash val="solid"/>
          </a:ln>
        </p:spPr>
      </p:sp>
      <p:sp>
        <p:nvSpPr>
          <p:cNvPr id="6" name="Text 4"/>
          <p:cNvSpPr txBox="1"/>
          <p:nvPr/>
        </p:nvSpPr>
        <p:spPr>
          <a:xfrm>
            <a:off x="777240" y="2240280"/>
            <a:ext cx="2194560" cy="86868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~30%</a:t>
            </a:r>
            <a:endParaRPr lang="en-US" sz="3600" dirty="0"/>
          </a:p>
        </p:txBody>
      </p:sp>
      <p:sp>
        <p:nvSpPr>
          <p:cNvPr id="7" name="Text 5"/>
          <p:cNvSpPr txBox="1"/>
          <p:nvPr/>
        </p:nvSpPr>
        <p:spPr>
          <a:xfrm>
            <a:off x="777240" y="3246120"/>
            <a:ext cx="2194560" cy="2377440"/>
          </a:xfrm>
          <a:prstGeom prst="rect">
            <a:avLst/>
          </a:prstGeom>
          <a:noFill/>
          <a:ln/>
        </p:spPr>
        <p:txBody>
          <a:bodyPr wrap="square" lIns="0" tIns="0" rIns="0" bIns="0" rtlCol="0" anchor="t"/>
          <a:lstStyle/>
          <a:p>
            <a:pPr indent="0" marL="0">
              <a:buNone/>
            </a:pPr>
            <a:r>
              <a:rPr lang="en-US" sz="1500" dirty="0">
                <a:solidFill>
                  <a:srgbClr val="1C1917"/>
                </a:solidFill>
                <a:latin typeface="Calibri" pitchFamily="34" charset="0"/>
                <a:ea typeface="Calibri" pitchFamily="34" charset="-122"/>
                <a:cs typeface="Calibri" pitchFamily="34" charset="-120"/>
              </a:rPr>
              <a:t>of patients at one Bengaluru dialysis centre were on twice-weekly dialysis, with higher weight gains and lower dialysis adequacy [3]</a:t>
            </a:r>
            <a:endParaRPr lang="en-US" sz="1500" dirty="0"/>
          </a:p>
        </p:txBody>
      </p:sp>
      <p:sp>
        <p:nvSpPr>
          <p:cNvPr id="8" name="Shape 6"/>
          <p:cNvSpPr/>
          <p:nvPr/>
        </p:nvSpPr>
        <p:spPr>
          <a:xfrm>
            <a:off x="3355848" y="1965960"/>
            <a:ext cx="2606040" cy="3291840"/>
          </a:xfrm>
          <a:prstGeom prst="roundRect">
            <a:avLst>
              <a:gd name="adj" fmla="val 4211"/>
            </a:avLst>
          </a:prstGeom>
          <a:solidFill>
            <a:srgbClr val="FEF2F2"/>
          </a:solidFill>
          <a:ln w="12700">
            <a:solidFill>
              <a:srgbClr val="FFFFFF"/>
            </a:solidFill>
            <a:prstDash val="solid"/>
          </a:ln>
        </p:spPr>
      </p:sp>
      <p:sp>
        <p:nvSpPr>
          <p:cNvPr id="9" name="Text 7"/>
          <p:cNvSpPr txBox="1"/>
          <p:nvPr/>
        </p:nvSpPr>
        <p:spPr>
          <a:xfrm>
            <a:off x="3584448" y="2240280"/>
            <a:ext cx="2194560" cy="868680"/>
          </a:xfrm>
          <a:prstGeom prst="rect">
            <a:avLst/>
          </a:prstGeom>
          <a:noFill/>
          <a:ln/>
        </p:spPr>
        <p:txBody>
          <a:bodyPr wrap="square" lIns="0" tIns="0" rIns="0" bIns="0" rtlCol="0" anchor="ctr"/>
          <a:lstStyle/>
          <a:p>
            <a:pPr indent="0" marL="0">
              <a:buNone/>
            </a:pPr>
            <a:r>
              <a:rPr lang="en-US" sz="3600" b="1" dirty="0">
                <a:solidFill>
                  <a:srgbClr val="DC2626"/>
                </a:solidFill>
                <a:latin typeface="Cambria" pitchFamily="34" charset="0"/>
                <a:ea typeface="Cambria" pitchFamily="34" charset="-122"/>
                <a:cs typeface="Cambria" pitchFamily="34" charset="-120"/>
              </a:rPr>
              <a:t>Silent</a:t>
            </a:r>
            <a:endParaRPr lang="en-US" sz="3600" dirty="0"/>
          </a:p>
        </p:txBody>
      </p:sp>
      <p:sp>
        <p:nvSpPr>
          <p:cNvPr id="10" name="Text 8"/>
          <p:cNvSpPr txBox="1"/>
          <p:nvPr/>
        </p:nvSpPr>
        <p:spPr>
          <a:xfrm>
            <a:off x="3584448" y="3246120"/>
            <a:ext cx="2194560" cy="2377440"/>
          </a:xfrm>
          <a:prstGeom prst="rect">
            <a:avLst/>
          </a:prstGeom>
          <a:noFill/>
          <a:ln/>
        </p:spPr>
        <p:txBody>
          <a:bodyPr wrap="square" lIns="0" tIns="0" rIns="0" bIns="0" rtlCol="0" anchor="t"/>
          <a:lstStyle/>
          <a:p>
            <a:pPr indent="0" marL="0">
              <a:buNone/>
            </a:pPr>
            <a:r>
              <a:rPr lang="en-US" sz="1500" dirty="0">
                <a:solidFill>
                  <a:srgbClr val="1C1917"/>
                </a:solidFill>
                <a:latin typeface="Calibri" pitchFamily="34" charset="0"/>
                <a:ea typeface="Calibri" pitchFamily="34" charset="-122"/>
                <a:cs typeface="Calibri" pitchFamily="34" charset="-120"/>
              </a:rPr>
              <a:t>Potassium builds up between sessions. Too much can trigger a fatal arrhythmia, often with no warning symptoms</a:t>
            </a:r>
            <a:endParaRPr lang="en-US" sz="1500" dirty="0"/>
          </a:p>
        </p:txBody>
      </p:sp>
      <p:sp>
        <p:nvSpPr>
          <p:cNvPr id="11" name="Shape 9"/>
          <p:cNvSpPr/>
          <p:nvPr/>
        </p:nvSpPr>
        <p:spPr>
          <a:xfrm>
            <a:off x="6163056" y="1965960"/>
            <a:ext cx="2606040" cy="3291840"/>
          </a:xfrm>
          <a:prstGeom prst="roundRect">
            <a:avLst>
              <a:gd name="adj" fmla="val 4211"/>
            </a:avLst>
          </a:prstGeom>
          <a:solidFill>
            <a:srgbClr val="FEF2F2"/>
          </a:solidFill>
          <a:ln w="12700">
            <a:solidFill>
              <a:srgbClr val="FFFFFF"/>
            </a:solidFill>
            <a:prstDash val="solid"/>
          </a:ln>
        </p:spPr>
      </p:sp>
      <p:sp>
        <p:nvSpPr>
          <p:cNvPr id="12" name="Text 10"/>
          <p:cNvSpPr txBox="1"/>
          <p:nvPr/>
        </p:nvSpPr>
        <p:spPr>
          <a:xfrm>
            <a:off x="6391656" y="2240280"/>
            <a:ext cx="2194560" cy="868680"/>
          </a:xfrm>
          <a:prstGeom prst="rect">
            <a:avLst/>
          </a:prstGeom>
          <a:noFill/>
          <a:ln/>
        </p:spPr>
        <p:txBody>
          <a:bodyPr wrap="square" lIns="0" tIns="0" rIns="0" bIns="0" rtlCol="0" anchor="ctr"/>
          <a:lstStyle/>
          <a:p>
            <a:pPr indent="0" marL="0">
              <a:buNone/>
            </a:pPr>
            <a:r>
              <a:rPr lang="en-US" sz="3600" b="1" dirty="0">
                <a:solidFill>
                  <a:srgbClr val="DC2626"/>
                </a:solidFill>
                <a:latin typeface="Cambria" pitchFamily="34" charset="0"/>
                <a:ea typeface="Cambria" pitchFamily="34" charset="-122"/>
                <a:cs typeface="Cambria" pitchFamily="34" charset="-120"/>
              </a:rPr>
              <a:t>Day after</a:t>
            </a:r>
            <a:endParaRPr lang="en-US" sz="3600" dirty="0"/>
          </a:p>
        </p:txBody>
      </p:sp>
      <p:sp>
        <p:nvSpPr>
          <p:cNvPr id="13" name="Text 11"/>
          <p:cNvSpPr txBox="1"/>
          <p:nvPr/>
        </p:nvSpPr>
        <p:spPr>
          <a:xfrm>
            <a:off x="6391656" y="3246120"/>
            <a:ext cx="2194560" cy="2377440"/>
          </a:xfrm>
          <a:prstGeom prst="rect">
            <a:avLst/>
          </a:prstGeom>
          <a:noFill/>
          <a:ln/>
        </p:spPr>
        <p:txBody>
          <a:bodyPr wrap="square" lIns="0" tIns="0" rIns="0" bIns="0" rtlCol="0" anchor="t"/>
          <a:lstStyle/>
          <a:p>
            <a:pPr indent="0" marL="0">
              <a:buNone/>
            </a:pPr>
            <a:r>
              <a:rPr lang="en-US" sz="1500" dirty="0">
                <a:solidFill>
                  <a:srgbClr val="1C1917"/>
                </a:solidFill>
                <a:latin typeface="Calibri" pitchFamily="34" charset="0"/>
                <a:ea typeface="Calibri" pitchFamily="34" charset="-122"/>
                <a:cs typeface="Calibri" pitchFamily="34" charset="-120"/>
              </a:rPr>
              <a:t>the long gap: deaths and cardiovascular hospitalisations cluster after the longest interval between sessions [1]</a:t>
            </a:r>
            <a:endParaRPr lang="en-US" sz="1500" dirty="0"/>
          </a:p>
        </p:txBody>
      </p:sp>
      <p:sp>
        <p:nvSpPr>
          <p:cNvPr id="14" name="Shape 12"/>
          <p:cNvSpPr/>
          <p:nvPr/>
        </p:nvSpPr>
        <p:spPr>
          <a:xfrm>
            <a:off x="8970264" y="1965960"/>
            <a:ext cx="2606040" cy="3291840"/>
          </a:xfrm>
          <a:prstGeom prst="roundRect">
            <a:avLst>
              <a:gd name="adj" fmla="val 4211"/>
            </a:avLst>
          </a:prstGeom>
          <a:solidFill>
            <a:srgbClr val="F5F5F4"/>
          </a:solidFill>
          <a:ln w="12700">
            <a:solidFill>
              <a:srgbClr val="FFFFFF"/>
            </a:solidFill>
            <a:prstDash val="solid"/>
          </a:ln>
        </p:spPr>
      </p:sp>
      <p:sp>
        <p:nvSpPr>
          <p:cNvPr id="15" name="Text 13"/>
          <p:cNvSpPr txBox="1"/>
          <p:nvPr/>
        </p:nvSpPr>
        <p:spPr>
          <a:xfrm>
            <a:off x="9198864" y="2240280"/>
            <a:ext cx="2194560" cy="868680"/>
          </a:xfrm>
          <a:prstGeom prst="rect">
            <a:avLst/>
          </a:prstGeom>
          <a:noFill/>
          <a:ln/>
        </p:spPr>
        <p:txBody>
          <a:bodyPr wrap="square" lIns="0" tIns="0" rIns="0" bIns="0" rtlCol="0" anchor="ctr"/>
          <a:lstStyle/>
          <a:p>
            <a:pPr indent="0" marL="0">
              <a:buNone/>
            </a:pPr>
            <a:r>
              <a:rPr lang="en-US" sz="3600" b="1" dirty="0">
                <a:solidFill>
                  <a:srgbClr val="57534E"/>
                </a:solidFill>
                <a:latin typeface="Cambria" pitchFamily="34" charset="0"/>
                <a:ea typeface="Cambria" pitchFamily="34" charset="-122"/>
                <a:cs typeface="Cambria" pitchFamily="34" charset="-120"/>
              </a:rPr>
              <a:t>Blind</a:t>
            </a:r>
            <a:endParaRPr lang="en-US" sz="3600" dirty="0"/>
          </a:p>
        </p:txBody>
      </p:sp>
      <p:sp>
        <p:nvSpPr>
          <p:cNvPr id="16" name="Text 14"/>
          <p:cNvSpPr txBox="1"/>
          <p:nvPr/>
        </p:nvSpPr>
        <p:spPr>
          <a:xfrm>
            <a:off x="9198864" y="3246120"/>
            <a:ext cx="2194560" cy="2377440"/>
          </a:xfrm>
          <a:prstGeom prst="rect">
            <a:avLst/>
          </a:prstGeom>
          <a:noFill/>
          <a:ln/>
        </p:spPr>
        <p:txBody>
          <a:bodyPr wrap="square" lIns="0" tIns="0" rIns="0" bIns="0" rtlCol="0" anchor="t"/>
          <a:lstStyle/>
          <a:p>
            <a:pPr indent="0" marL="0">
              <a:buNone/>
            </a:pPr>
            <a:r>
              <a:rPr lang="en-US" sz="1500" dirty="0">
                <a:solidFill>
                  <a:srgbClr val="1C1917"/>
                </a:solidFill>
                <a:latin typeface="Calibri" pitchFamily="34" charset="0"/>
                <a:ea typeface="Calibri" pitchFamily="34" charset="-122"/>
                <a:cs typeface="Calibri" pitchFamily="34" charset="-120"/>
              </a:rPr>
              <a:t>Clinics check potassium on a monthly lab, and every patient keeps fixed weekdays whatever their potassium is doing</a:t>
            </a:r>
            <a:endParaRPr lang="en-US" sz="1500" dirty="0"/>
          </a:p>
        </p:txBody>
      </p:sp>
      <p:sp>
        <p:nvSpPr>
          <p:cNvPr id="17" name="Text 15"/>
          <p:cNvSpPr txBox="1"/>
          <p:nvPr/>
        </p:nvSpPr>
        <p:spPr>
          <a:xfrm>
            <a:off x="548640" y="6400800"/>
            <a:ext cx="11091672" cy="274320"/>
          </a:xfrm>
          <a:prstGeom prst="rect">
            <a:avLst/>
          </a:prstGeom>
          <a:noFill/>
          <a:ln/>
        </p:spPr>
        <p:txBody>
          <a:bodyPr wrap="square" lIns="0" tIns="0" rIns="0" bIns="0" rtlCol="0" anchor="ctr"/>
          <a:lstStyle/>
          <a:p>
            <a:pPr indent="0" marL="0">
              <a:buNone/>
            </a:pPr>
            <a:r>
              <a:rPr lang="en-US" sz="950" dirty="0">
                <a:solidFill>
                  <a:srgbClr val="8A8580"/>
                </a:solidFill>
                <a:latin typeface="Calibri" pitchFamily="34" charset="0"/>
                <a:ea typeface="Calibri" pitchFamily="34" charset="-122"/>
                <a:cs typeface="Calibri" pitchFamily="34" charset="-120"/>
              </a:rPr>
              <a:t>[1] Foley et al., NEJM 2011   [3] Mukherjee et al., Indian J Nephrol 2016</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542032"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2542032"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MEET LAKSHMI (SYNTHETIC)</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Tuesday, 9 PM. Is she safe until Thursday?</a:t>
            </a:r>
            <a:endParaRPr lang="en-US" sz="3400" dirty="0"/>
          </a:p>
        </p:txBody>
      </p:sp>
      <p:sp>
        <p:nvSpPr>
          <p:cNvPr id="5" name="Text 3"/>
          <p:cNvSpPr txBox="1"/>
          <p:nvPr/>
        </p:nvSpPr>
        <p:spPr>
          <a:xfrm>
            <a:off x="548640" y="1920240"/>
            <a:ext cx="512064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C1917"/>
                </a:solidFill>
                <a:latin typeface="Calibri" pitchFamily="34" charset="0"/>
                <a:ea typeface="Calibri" pitchFamily="34" charset="-122"/>
                <a:cs typeface="Calibri" pitchFamily="34" charset="-120"/>
              </a:rPr>
              <a:t>58, diabetic, on an ARB. Dialysis Mon &amp; Thu.</a:t>
            </a:r>
            <a:endParaRPr lang="en-US" sz="1800" dirty="0"/>
          </a:p>
          <a:p>
            <a:pPr marL="342900" indent="-342900">
              <a:spcAft>
                <a:spcPts val="1000"/>
              </a:spcAft>
              <a:buSzPct val="100000"/>
              <a:buChar char="•"/>
            </a:pPr>
            <a:r>
              <a:rPr lang="en-US" sz="1800" dirty="0">
                <a:solidFill>
                  <a:srgbClr val="1C1917"/>
                </a:solidFill>
                <a:latin typeface="Calibri" pitchFamily="34" charset="0"/>
                <a:ea typeface="Calibri" pitchFamily="34" charset="-122"/>
                <a:cs typeface="Calibri" pitchFamily="34" charset="-120"/>
              </a:rPr>
              <a:t>Drank tender coconut water on Monday and Tuesday, and logged it.</a:t>
            </a:r>
            <a:endParaRPr lang="en-US" sz="1800" dirty="0"/>
          </a:p>
          <a:p>
            <a:pPr marL="342900" indent="-342900">
              <a:spcAft>
                <a:spcPts val="1000"/>
              </a:spcAft>
              <a:buSzPct val="100000"/>
              <a:buChar char="•"/>
            </a:pPr>
            <a:r>
              <a:rPr lang="en-US" sz="1800" dirty="0">
                <a:solidFill>
                  <a:srgbClr val="1C1917"/>
                </a:solidFill>
                <a:latin typeface="Calibri" pitchFamily="34" charset="0"/>
                <a:ea typeface="Calibri" pitchFamily="34" charset="-122"/>
                <a:cs typeface="Calibri" pitchFamily="34" charset="-120"/>
              </a:rPr>
              <a:t>Tonight her smartwatch T wave is far taller than her post-dialysis baseline.</a:t>
            </a:r>
            <a:endParaRPr lang="en-US" sz="1800" dirty="0"/>
          </a:p>
          <a:p>
            <a:pPr marL="342900" indent="-342900">
              <a:spcAft>
                <a:spcPts val="1000"/>
              </a:spcAft>
              <a:buSzPct val="100000"/>
              <a:buChar char="•"/>
            </a:pPr>
            <a:r>
              <a:rPr lang="en-US" sz="1800" dirty="0">
                <a:solidFill>
                  <a:srgbClr val="1C1917"/>
                </a:solidFill>
                <a:latin typeface="Calibri" pitchFamily="34" charset="0"/>
                <a:ea typeface="Calibri" pitchFamily="34" charset="-122"/>
                <a:cs typeface="Calibri" pitchFamily="34" charset="-120"/>
              </a:rPr>
              <a:t>Her next potassium lab is weeks away.</a:t>
            </a:r>
            <a:endParaRPr lang="en-US" sz="1800" dirty="0"/>
          </a:p>
        </p:txBody>
      </p:sp>
      <p:sp>
        <p:nvSpPr>
          <p:cNvPr id="6" name="Shape 4"/>
          <p:cNvSpPr/>
          <p:nvPr/>
        </p:nvSpPr>
        <p:spPr>
          <a:xfrm>
            <a:off x="548640" y="4709160"/>
            <a:ext cx="5120640" cy="1325880"/>
          </a:xfrm>
          <a:prstGeom prst="roundRect">
            <a:avLst>
              <a:gd name="adj" fmla="val 8276"/>
            </a:avLst>
          </a:prstGeom>
          <a:solidFill>
            <a:srgbClr val="F0FDFA"/>
          </a:solidFill>
          <a:ln w="12700">
            <a:solidFill>
              <a:srgbClr val="F0FDFA"/>
            </a:solidFill>
            <a:prstDash val="solid"/>
          </a:ln>
        </p:spPr>
      </p:sp>
      <p:sp>
        <p:nvSpPr>
          <p:cNvPr id="7" name="Text 5"/>
          <p:cNvSpPr txBox="1"/>
          <p:nvPr/>
        </p:nvSpPr>
        <p:spPr>
          <a:xfrm>
            <a:off x="777240" y="4846320"/>
            <a:ext cx="4754880" cy="1097280"/>
          </a:xfrm>
          <a:prstGeom prst="rect">
            <a:avLst/>
          </a:prstGeom>
          <a:noFill/>
          <a:ln/>
        </p:spPr>
        <p:txBody>
          <a:bodyPr wrap="square" lIns="0" tIns="0" rIns="0" bIns="0" rtlCol="0" anchor="ctr"/>
          <a:lstStyle/>
          <a:p>
            <a:pPr indent="0" marL="0">
              <a:buNone/>
            </a:pPr>
            <a:r>
              <a:rPr lang="en-US" sz="1700" b="1" dirty="0">
                <a:solidFill>
                  <a:srgbClr val="0F766E"/>
                </a:solidFill>
                <a:latin typeface="Calibri" pitchFamily="34" charset="0"/>
                <a:ea typeface="Calibri" pitchFamily="34" charset="-122"/>
                <a:cs typeface="Calibri" pitchFamily="34" charset="-120"/>
              </a:rPr>
              <a:t>The nephrologist's question tonight</a:t>
            </a:r>
            <a:endParaRPr lang="en-US" sz="1700" dirty="0"/>
          </a:p>
          <a:p>
            <a:pPr indent="0" marL="0">
              <a:buNone/>
            </a:pPr>
            <a:r>
              <a:rPr lang="en-US" sz="1700" dirty="0">
                <a:solidFill>
                  <a:srgbClr val="1C1917"/>
                </a:solidFill>
                <a:latin typeface="Calibri" pitchFamily="34" charset="0"/>
                <a:ea typeface="Calibri" pitchFamily="34" charset="-122"/>
                <a:cs typeface="Calibri" pitchFamily="34" charset="-120"/>
              </a:rPr>
              <a:t>Should she come in tomorrow, or wait until Thursday?</a:t>
            </a:r>
            <a:endParaRPr lang="en-US" sz="1700" dirty="0"/>
          </a:p>
        </p:txBody>
      </p:sp>
      <p:pic>
        <p:nvPicPr>
          <p:cNvPr id="8" name="Image 0" descr="/home/claude/antaral/docs/deck_assets/ecg_beats.png">    </p:cNvPr>
          <p:cNvPicPr>
            <a:picLocks noChangeAspect="1"/>
          </p:cNvPicPr>
          <p:nvPr/>
        </p:nvPicPr>
        <p:blipFill>
          <a:blip r:embed="rId1"/>
          <a:stretch>
            <a:fillRect/>
          </a:stretch>
        </p:blipFill>
        <p:spPr>
          <a:xfrm>
            <a:off x="6035040" y="1828800"/>
            <a:ext cx="5669280" cy="2834640"/>
          </a:xfrm>
          <a:prstGeom prst="rect">
            <a:avLst/>
          </a:prstGeom>
        </p:spPr>
      </p:pic>
      <p:sp>
        <p:nvSpPr>
          <p:cNvPr id="9" name="Text 6"/>
          <p:cNvSpPr txBox="1"/>
          <p:nvPr/>
        </p:nvSpPr>
        <p:spPr>
          <a:xfrm>
            <a:off x="6035040" y="4709160"/>
            <a:ext cx="5669280" cy="320040"/>
          </a:xfrm>
          <a:prstGeom prst="rect">
            <a:avLst/>
          </a:prstGeom>
          <a:noFill/>
          <a:ln/>
        </p:spPr>
        <p:txBody>
          <a:bodyPr wrap="square" lIns="0" tIns="0" rIns="0" bIns="0" rtlCol="0" anchor="ctr"/>
          <a:lstStyle/>
          <a:p>
            <a:pPr indent="0" marL="0">
              <a:buNone/>
            </a:pPr>
            <a:r>
              <a:rPr lang="en-US" sz="1200" dirty="0">
                <a:solidFill>
                  <a:srgbClr val="57534E"/>
                </a:solidFill>
                <a:latin typeface="Calibri" pitchFamily="34" charset="0"/>
                <a:ea typeface="Calibri" pitchFamily="34" charset="-122"/>
                <a:cs typeface="Calibri" pitchFamily="34" charset="-120"/>
              </a:rPr>
              <a:t>Smartwatch median beat: her baseline vs tonight</a:t>
            </a:r>
            <a:endParaRPr lang="en-US" sz="1200" dirty="0"/>
          </a:p>
        </p:txBody>
      </p:sp>
      <p:sp>
        <p:nvSpPr>
          <p:cNvPr id="10" name="Text 7"/>
          <p:cNvSpPr txBox="1"/>
          <p:nvPr/>
        </p:nvSpPr>
        <p:spPr>
          <a:xfrm>
            <a:off x="548640" y="6400800"/>
            <a:ext cx="11091672" cy="274320"/>
          </a:xfrm>
          <a:prstGeom prst="rect">
            <a:avLst/>
          </a:prstGeom>
          <a:noFill/>
          <a:ln/>
        </p:spPr>
        <p:txBody>
          <a:bodyPr wrap="square" lIns="0" tIns="0" rIns="0" bIns="0" rtlCol="0" anchor="ctr"/>
          <a:lstStyle/>
          <a:p>
            <a:pPr indent="0" marL="0">
              <a:buNone/>
            </a:pPr>
            <a:r>
              <a:rPr lang="en-US" sz="950" dirty="0">
                <a:solidFill>
                  <a:srgbClr val="8A8580"/>
                </a:solidFill>
                <a:latin typeface="Calibri" pitchFamily="34" charset="0"/>
                <a:ea typeface="Calibri" pitchFamily="34" charset="-122"/>
                <a:cs typeface="Calibri" pitchFamily="34" charset="-120"/>
              </a:rPr>
              <a:t>All patients and data in Antaral are synthetic, generated by its own simulator.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760220"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1760220"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WHAT ANTARAL IS</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Three twins, one evening decision</a:t>
            </a:r>
            <a:endParaRPr lang="en-US" sz="3400" dirty="0"/>
          </a:p>
        </p:txBody>
      </p:sp>
      <p:sp>
        <p:nvSpPr>
          <p:cNvPr id="5" name="Shape 3"/>
          <p:cNvSpPr/>
          <p:nvPr/>
        </p:nvSpPr>
        <p:spPr>
          <a:xfrm>
            <a:off x="548640" y="2011680"/>
            <a:ext cx="2606040" cy="3566160"/>
          </a:xfrm>
          <a:prstGeom prst="roundRect">
            <a:avLst>
              <a:gd name="adj" fmla="val 4211"/>
            </a:avLst>
          </a:prstGeom>
          <a:solidFill>
            <a:srgbClr val="FFFFFF"/>
          </a:solidFill>
          <a:ln w="12700">
            <a:solidFill>
              <a:srgbClr val="E7E5E4"/>
            </a:solidFill>
            <a:prstDash val="solid"/>
          </a:ln>
        </p:spPr>
      </p:sp>
      <p:sp>
        <p:nvSpPr>
          <p:cNvPr id="6" name="Shape 4"/>
          <p:cNvSpPr/>
          <p:nvPr/>
        </p:nvSpPr>
        <p:spPr>
          <a:xfrm>
            <a:off x="777240" y="2240280"/>
            <a:ext cx="566928" cy="566928"/>
          </a:xfrm>
          <a:prstGeom prst="ellipse">
            <a:avLst/>
          </a:prstGeom>
          <a:solidFill>
            <a:srgbClr val="0F766E"/>
          </a:solidFill>
          <a:ln w="12700">
            <a:solidFill>
              <a:srgbClr val="0F766E"/>
            </a:solidFill>
            <a:prstDash val="solid"/>
          </a:ln>
        </p:spPr>
      </p:sp>
      <p:sp>
        <p:nvSpPr>
          <p:cNvPr id="7" name="Text 5"/>
          <p:cNvSpPr txBox="1"/>
          <p:nvPr/>
        </p:nvSpPr>
        <p:spPr>
          <a:xfrm>
            <a:off x="777240"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777240" y="2971800"/>
            <a:ext cx="2194560" cy="457200"/>
          </a:xfrm>
          <a:prstGeom prst="rect">
            <a:avLst/>
          </a:prstGeom>
          <a:noFill/>
          <a:ln/>
        </p:spPr>
        <p:txBody>
          <a:bodyPr wrap="square" lIns="0" tIns="0" rIns="0" bIns="0" rtlCol="0" anchor="ctr"/>
          <a:lstStyle/>
          <a:p>
            <a:pPr indent="0" marL="0">
              <a:buNone/>
            </a:pPr>
            <a:r>
              <a:rPr lang="en-US" sz="2000" b="1" dirty="0">
                <a:solidFill>
                  <a:srgbClr val="1C1917"/>
                </a:solidFill>
                <a:latin typeface="Cambria" pitchFamily="34" charset="0"/>
                <a:ea typeface="Cambria" pitchFamily="34" charset="-122"/>
                <a:cs typeface="Cambria" pitchFamily="34" charset="-120"/>
              </a:rPr>
              <a:t>Patient twin</a:t>
            </a:r>
            <a:endParaRPr lang="en-US" sz="2000" dirty="0"/>
          </a:p>
        </p:txBody>
      </p:sp>
      <p:sp>
        <p:nvSpPr>
          <p:cNvPr id="9" name="Text 7"/>
          <p:cNvSpPr txBox="1"/>
          <p:nvPr/>
        </p:nvSpPr>
        <p:spPr>
          <a:xfrm>
            <a:off x="777240" y="3520440"/>
            <a:ext cx="2194560" cy="1920240"/>
          </a:xfrm>
          <a:prstGeom prst="rect">
            <a:avLst/>
          </a:prstGeom>
          <a:noFill/>
          <a:ln/>
        </p:spPr>
        <p:txBody>
          <a:bodyPr wrap="square" lIns="0" tIns="0" rIns="0" bIns="0" rtlCol="0" anchor="t"/>
          <a:lstStyle/>
          <a:p>
            <a:pPr indent="0" marL="0">
              <a:buNone/>
            </a:pPr>
            <a:r>
              <a:rPr lang="en-US" sz="1450" dirty="0">
                <a:solidFill>
                  <a:srgbClr val="57534E"/>
                </a:solidFill>
                <a:latin typeface="Calibri" pitchFamily="34" charset="0"/>
                <a:ea typeface="Calibri" pitchFamily="34" charset="-122"/>
                <a:cs typeface="Calibri" pitchFamily="34" charset="-120"/>
              </a:rPr>
              <a:t>A potassium model personalised from the EHR, corrected hour by hour by labs and a smartwatch ECG (Kalman filter)</a:t>
            </a:r>
            <a:endParaRPr lang="en-US" sz="1450" dirty="0"/>
          </a:p>
        </p:txBody>
      </p:sp>
      <p:sp>
        <p:nvSpPr>
          <p:cNvPr id="10" name="Text 8"/>
          <p:cNvSpPr txBox="1"/>
          <p:nvPr/>
        </p:nvSpPr>
        <p:spPr>
          <a:xfrm>
            <a:off x="3136392" y="3383280"/>
            <a:ext cx="274320" cy="457200"/>
          </a:xfrm>
          <a:prstGeom prst="rect">
            <a:avLst/>
          </a:prstGeom>
          <a:noFill/>
          <a:ln/>
        </p:spPr>
        <p:txBody>
          <a:bodyPr wrap="square" lIns="0" tIns="0" rIns="0" bIns="0" rtlCol="0" anchor="ctr"/>
          <a:lstStyle/>
          <a:p>
            <a:pPr algn="ctr" indent="0" marL="0">
              <a:buNone/>
            </a:pPr>
            <a:r>
              <a:rPr lang="en-US" sz="2200" dirty="0">
                <a:solidFill>
                  <a:srgbClr val="A8A29E"/>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3401568" y="2011680"/>
            <a:ext cx="2606040" cy="3566160"/>
          </a:xfrm>
          <a:prstGeom prst="roundRect">
            <a:avLst>
              <a:gd name="adj" fmla="val 4211"/>
            </a:avLst>
          </a:prstGeom>
          <a:solidFill>
            <a:srgbClr val="FFFFFF"/>
          </a:solidFill>
          <a:ln w="12700">
            <a:solidFill>
              <a:srgbClr val="E7E5E4"/>
            </a:solidFill>
            <a:prstDash val="solid"/>
          </a:ln>
        </p:spPr>
      </p:sp>
      <p:sp>
        <p:nvSpPr>
          <p:cNvPr id="12" name="Shape 10"/>
          <p:cNvSpPr/>
          <p:nvPr/>
        </p:nvSpPr>
        <p:spPr>
          <a:xfrm>
            <a:off x="3630168" y="2240280"/>
            <a:ext cx="566928" cy="566928"/>
          </a:xfrm>
          <a:prstGeom prst="ellipse">
            <a:avLst/>
          </a:prstGeom>
          <a:solidFill>
            <a:srgbClr val="B45309"/>
          </a:solidFill>
          <a:ln w="12700">
            <a:solidFill>
              <a:srgbClr val="B45309"/>
            </a:solidFill>
            <a:prstDash val="solid"/>
          </a:ln>
        </p:spPr>
      </p:sp>
      <p:sp>
        <p:nvSpPr>
          <p:cNvPr id="13" name="Text 11"/>
          <p:cNvSpPr txBox="1"/>
          <p:nvPr/>
        </p:nvSpPr>
        <p:spPr>
          <a:xfrm>
            <a:off x="3630168"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3630168" y="2971800"/>
            <a:ext cx="2194560" cy="457200"/>
          </a:xfrm>
          <a:prstGeom prst="rect">
            <a:avLst/>
          </a:prstGeom>
          <a:noFill/>
          <a:ln/>
        </p:spPr>
        <p:txBody>
          <a:bodyPr wrap="square" lIns="0" tIns="0" rIns="0" bIns="0" rtlCol="0" anchor="ctr"/>
          <a:lstStyle/>
          <a:p>
            <a:pPr indent="0" marL="0">
              <a:buNone/>
            </a:pPr>
            <a:r>
              <a:rPr lang="en-US" sz="2000" b="1" dirty="0">
                <a:solidFill>
                  <a:srgbClr val="1C1917"/>
                </a:solidFill>
                <a:latin typeface="Cambria" pitchFamily="34" charset="0"/>
                <a:ea typeface="Cambria" pitchFamily="34" charset="-122"/>
                <a:cs typeface="Cambria" pitchFamily="34" charset="-120"/>
              </a:rPr>
              <a:t>Risk layer</a:t>
            </a:r>
            <a:endParaRPr lang="en-US" sz="2000" dirty="0"/>
          </a:p>
        </p:txBody>
      </p:sp>
      <p:sp>
        <p:nvSpPr>
          <p:cNvPr id="15" name="Text 13"/>
          <p:cNvSpPr txBox="1"/>
          <p:nvPr/>
        </p:nvSpPr>
        <p:spPr>
          <a:xfrm>
            <a:off x="3630168" y="3520440"/>
            <a:ext cx="2194560" cy="1920240"/>
          </a:xfrm>
          <a:prstGeom prst="rect">
            <a:avLst/>
          </a:prstGeom>
          <a:noFill/>
          <a:ln/>
        </p:spPr>
        <p:txBody>
          <a:bodyPr wrap="square" lIns="0" tIns="0" rIns="0" bIns="0" rtlCol="0" anchor="t"/>
          <a:lstStyle/>
          <a:p>
            <a:pPr indent="0" marL="0">
              <a:buNone/>
            </a:pPr>
            <a:r>
              <a:rPr lang="en-US" sz="1450" dirty="0">
                <a:solidFill>
                  <a:srgbClr val="57534E"/>
                </a:solidFill>
                <a:latin typeface="Calibri" pitchFamily="34" charset="0"/>
                <a:ea typeface="Calibri" pitchFamily="34" charset="-122"/>
                <a:cs typeface="Calibri" pitchFamily="34" charset="-120"/>
              </a:rPr>
              <a:t>A calibrated model on top of the twin: risk of K ≥ 6.0 before the next session, with reasons</a:t>
            </a:r>
            <a:endParaRPr lang="en-US" sz="1450" dirty="0"/>
          </a:p>
        </p:txBody>
      </p:sp>
      <p:sp>
        <p:nvSpPr>
          <p:cNvPr id="16" name="Text 14"/>
          <p:cNvSpPr txBox="1"/>
          <p:nvPr/>
        </p:nvSpPr>
        <p:spPr>
          <a:xfrm>
            <a:off x="5989320" y="3383280"/>
            <a:ext cx="274320" cy="457200"/>
          </a:xfrm>
          <a:prstGeom prst="rect">
            <a:avLst/>
          </a:prstGeom>
          <a:noFill/>
          <a:ln/>
        </p:spPr>
        <p:txBody>
          <a:bodyPr wrap="square" lIns="0" tIns="0" rIns="0" bIns="0" rtlCol="0" anchor="ctr"/>
          <a:lstStyle/>
          <a:p>
            <a:pPr algn="ctr" indent="0" marL="0">
              <a:buNone/>
            </a:pPr>
            <a:r>
              <a:rPr lang="en-US" sz="2200" dirty="0">
                <a:solidFill>
                  <a:srgbClr val="A8A29E"/>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6254496" y="2011680"/>
            <a:ext cx="2606040" cy="3566160"/>
          </a:xfrm>
          <a:prstGeom prst="roundRect">
            <a:avLst>
              <a:gd name="adj" fmla="val 4211"/>
            </a:avLst>
          </a:prstGeom>
          <a:solidFill>
            <a:srgbClr val="FFFFFF"/>
          </a:solidFill>
          <a:ln w="12700">
            <a:solidFill>
              <a:srgbClr val="E7E5E4"/>
            </a:solidFill>
            <a:prstDash val="solid"/>
          </a:ln>
        </p:spPr>
      </p:sp>
      <p:sp>
        <p:nvSpPr>
          <p:cNvPr id="18" name="Shape 16"/>
          <p:cNvSpPr/>
          <p:nvPr/>
        </p:nvSpPr>
        <p:spPr>
          <a:xfrm>
            <a:off x="6483096" y="2240280"/>
            <a:ext cx="566928" cy="566928"/>
          </a:xfrm>
          <a:prstGeom prst="ellipse">
            <a:avLst/>
          </a:prstGeom>
          <a:solidFill>
            <a:srgbClr val="0F766E"/>
          </a:solidFill>
          <a:ln w="12700">
            <a:solidFill>
              <a:srgbClr val="0F766E"/>
            </a:solidFill>
            <a:prstDash val="solid"/>
          </a:ln>
        </p:spPr>
      </p:sp>
      <p:sp>
        <p:nvSpPr>
          <p:cNvPr id="19" name="Text 17"/>
          <p:cNvSpPr txBox="1"/>
          <p:nvPr/>
        </p:nvSpPr>
        <p:spPr>
          <a:xfrm>
            <a:off x="6483096"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txBox="1"/>
          <p:nvPr/>
        </p:nvSpPr>
        <p:spPr>
          <a:xfrm>
            <a:off x="6483096" y="2971800"/>
            <a:ext cx="2194560" cy="457200"/>
          </a:xfrm>
          <a:prstGeom prst="rect">
            <a:avLst/>
          </a:prstGeom>
          <a:noFill/>
          <a:ln/>
        </p:spPr>
        <p:txBody>
          <a:bodyPr wrap="square" lIns="0" tIns="0" rIns="0" bIns="0" rtlCol="0" anchor="ctr"/>
          <a:lstStyle/>
          <a:p>
            <a:pPr indent="0" marL="0">
              <a:buNone/>
            </a:pPr>
            <a:r>
              <a:rPr lang="en-US" sz="2000" b="1" dirty="0">
                <a:solidFill>
                  <a:srgbClr val="1C1917"/>
                </a:solidFill>
                <a:latin typeface="Cambria" pitchFamily="34" charset="0"/>
                <a:ea typeface="Cambria" pitchFamily="34" charset="-122"/>
                <a:cs typeface="Cambria" pitchFamily="34" charset="-120"/>
              </a:rPr>
              <a:t>Unit twin</a:t>
            </a:r>
            <a:endParaRPr lang="en-US" sz="2000" dirty="0"/>
          </a:p>
        </p:txBody>
      </p:sp>
      <p:sp>
        <p:nvSpPr>
          <p:cNvPr id="21" name="Text 19"/>
          <p:cNvSpPr txBox="1"/>
          <p:nvPr/>
        </p:nvSpPr>
        <p:spPr>
          <a:xfrm>
            <a:off x="6483096" y="3520440"/>
            <a:ext cx="2194560" cy="1920240"/>
          </a:xfrm>
          <a:prstGeom prst="rect">
            <a:avLst/>
          </a:prstGeom>
          <a:noFill/>
          <a:ln/>
        </p:spPr>
        <p:txBody>
          <a:bodyPr wrap="square" lIns="0" tIns="0" rIns="0" bIns="0" rtlCol="0" anchor="t"/>
          <a:lstStyle/>
          <a:p>
            <a:pPr indent="0" marL="0">
              <a:buNone/>
            </a:pPr>
            <a:r>
              <a:rPr lang="en-US" sz="1450" dirty="0">
                <a:solidFill>
                  <a:srgbClr val="57534E"/>
                </a:solidFill>
                <a:latin typeface="Calibri" pitchFamily="34" charset="0"/>
                <a:ea typeface="Calibri" pitchFamily="34" charset="-122"/>
                <a:cs typeface="Calibri" pitchFamily="34" charset="-120"/>
              </a:rPr>
              <a:t>Every night at 9 PM, re-plans tomorrow's chairs so the patients heading for danger go first</a:t>
            </a:r>
            <a:endParaRPr lang="en-US" sz="1450" dirty="0"/>
          </a:p>
        </p:txBody>
      </p:sp>
      <p:sp>
        <p:nvSpPr>
          <p:cNvPr id="22" name="Text 20"/>
          <p:cNvSpPr txBox="1"/>
          <p:nvPr/>
        </p:nvSpPr>
        <p:spPr>
          <a:xfrm>
            <a:off x="8842248" y="3383280"/>
            <a:ext cx="274320" cy="457200"/>
          </a:xfrm>
          <a:prstGeom prst="rect">
            <a:avLst/>
          </a:prstGeom>
          <a:noFill/>
          <a:ln/>
        </p:spPr>
        <p:txBody>
          <a:bodyPr wrap="square" lIns="0" tIns="0" rIns="0" bIns="0" rtlCol="0" anchor="ctr"/>
          <a:lstStyle/>
          <a:p>
            <a:pPr algn="ctr" indent="0" marL="0">
              <a:buNone/>
            </a:pPr>
            <a:r>
              <a:rPr lang="en-US" sz="2200" dirty="0">
                <a:solidFill>
                  <a:srgbClr val="A8A29E"/>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9107424" y="2011680"/>
            <a:ext cx="2606040" cy="3566160"/>
          </a:xfrm>
          <a:prstGeom prst="roundRect">
            <a:avLst>
              <a:gd name="adj" fmla="val 4211"/>
            </a:avLst>
          </a:prstGeom>
          <a:solidFill>
            <a:srgbClr val="FFFFFF"/>
          </a:solidFill>
          <a:ln w="12700">
            <a:solidFill>
              <a:srgbClr val="E7E5E4"/>
            </a:solidFill>
            <a:prstDash val="solid"/>
          </a:ln>
        </p:spPr>
      </p:sp>
      <p:sp>
        <p:nvSpPr>
          <p:cNvPr id="24" name="Shape 22"/>
          <p:cNvSpPr/>
          <p:nvPr/>
        </p:nvSpPr>
        <p:spPr>
          <a:xfrm>
            <a:off x="9336024" y="2240280"/>
            <a:ext cx="566928" cy="566928"/>
          </a:xfrm>
          <a:prstGeom prst="ellipse">
            <a:avLst/>
          </a:prstGeom>
          <a:solidFill>
            <a:srgbClr val="DC2626"/>
          </a:solidFill>
          <a:ln w="12700">
            <a:solidFill>
              <a:srgbClr val="DC2626"/>
            </a:solidFill>
            <a:prstDash val="solid"/>
          </a:ln>
        </p:spPr>
      </p:sp>
      <p:sp>
        <p:nvSpPr>
          <p:cNvPr id="25" name="Text 23"/>
          <p:cNvSpPr txBox="1"/>
          <p:nvPr/>
        </p:nvSpPr>
        <p:spPr>
          <a:xfrm>
            <a:off x="9336024" y="22402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6" name="Text 24"/>
          <p:cNvSpPr txBox="1"/>
          <p:nvPr/>
        </p:nvSpPr>
        <p:spPr>
          <a:xfrm>
            <a:off x="9336024" y="2971800"/>
            <a:ext cx="2194560" cy="457200"/>
          </a:xfrm>
          <a:prstGeom prst="rect">
            <a:avLst/>
          </a:prstGeom>
          <a:noFill/>
          <a:ln/>
        </p:spPr>
        <p:txBody>
          <a:bodyPr wrap="square" lIns="0" tIns="0" rIns="0" bIns="0" rtlCol="0" anchor="ctr"/>
          <a:lstStyle/>
          <a:p>
            <a:pPr indent="0" marL="0">
              <a:buNone/>
            </a:pPr>
            <a:r>
              <a:rPr lang="en-US" sz="2000" b="1" dirty="0">
                <a:solidFill>
                  <a:srgbClr val="1C1917"/>
                </a:solidFill>
                <a:latin typeface="Cambria" pitchFamily="34" charset="0"/>
                <a:ea typeface="Cambria" pitchFamily="34" charset="-122"/>
                <a:cs typeface="Cambria" pitchFamily="34" charset="-120"/>
              </a:rPr>
              <a:t>Doctor approves</a:t>
            </a:r>
            <a:endParaRPr lang="en-US" sz="2000" dirty="0"/>
          </a:p>
        </p:txBody>
      </p:sp>
      <p:sp>
        <p:nvSpPr>
          <p:cNvPr id="27" name="Text 25"/>
          <p:cNvSpPr txBox="1"/>
          <p:nvPr/>
        </p:nvSpPr>
        <p:spPr>
          <a:xfrm>
            <a:off x="9336024" y="3520440"/>
            <a:ext cx="2194560" cy="1920240"/>
          </a:xfrm>
          <a:prstGeom prst="rect">
            <a:avLst/>
          </a:prstGeom>
          <a:noFill/>
          <a:ln/>
        </p:spPr>
        <p:txBody>
          <a:bodyPr wrap="square" lIns="0" tIns="0" rIns="0" bIns="0" rtlCol="0" anchor="t"/>
          <a:lstStyle/>
          <a:p>
            <a:pPr indent="0" marL="0">
              <a:buNone/>
            </a:pPr>
            <a:r>
              <a:rPr lang="en-US" sz="1450" dirty="0">
                <a:solidFill>
                  <a:srgbClr val="57534E"/>
                </a:solidFill>
                <a:latin typeface="Calibri" pitchFamily="34" charset="0"/>
                <a:ea typeface="Calibri" pitchFamily="34" charset="-122"/>
                <a:cs typeface="Calibri" pitchFamily="34" charset="-120"/>
              </a:rPr>
              <a:t>Dashboard with suggestions, what-if panel and explanations. Nothing changes without a clinician</a:t>
            </a:r>
            <a:endParaRPr lang="en-US" sz="1450" dirty="0"/>
          </a:p>
        </p:txBody>
      </p:sp>
      <p:sp>
        <p:nvSpPr>
          <p:cNvPr id="28" name="Text 26"/>
          <p:cNvSpPr txBox="1"/>
          <p:nvPr/>
        </p:nvSpPr>
        <p:spPr>
          <a:xfrm>
            <a:off x="548640" y="5806440"/>
            <a:ext cx="10972800" cy="411480"/>
          </a:xfrm>
          <a:prstGeom prst="rect">
            <a:avLst/>
          </a:prstGeom>
          <a:noFill/>
          <a:ln/>
        </p:spPr>
        <p:txBody>
          <a:bodyPr wrap="square" lIns="0" tIns="0" rIns="0" bIns="0" rtlCol="0" anchor="ctr"/>
          <a:lstStyle/>
          <a:p>
            <a:pPr indent="0" marL="0">
              <a:buNone/>
            </a:pPr>
            <a:r>
              <a:rPr lang="en-US" sz="1800" i="1" dirty="0">
                <a:solidFill>
                  <a:srgbClr val="0F766E"/>
                </a:solidFill>
                <a:latin typeface="Cambria" pitchFamily="34" charset="0"/>
                <a:ea typeface="Cambria" pitchFamily="34" charset="-122"/>
                <a:cs typeface="Cambria" pitchFamily="34" charset="-120"/>
              </a:rPr>
              <a:t>Same machines. Same number of sessions per patient. Smarter timing, earlier warnings.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412748"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1412748"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DATA FUSION</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Static record + live signals, fused hourly</a:t>
            </a:r>
            <a:endParaRPr lang="en-US" sz="3400" dirty="0"/>
          </a:p>
        </p:txBody>
      </p:sp>
      <p:sp>
        <p:nvSpPr>
          <p:cNvPr id="5" name="Shape 3"/>
          <p:cNvSpPr/>
          <p:nvPr/>
        </p:nvSpPr>
        <p:spPr>
          <a:xfrm>
            <a:off x="548640" y="1965960"/>
            <a:ext cx="3520440" cy="3520440"/>
          </a:xfrm>
          <a:prstGeom prst="roundRect">
            <a:avLst>
              <a:gd name="adj" fmla="val 3117"/>
            </a:avLst>
          </a:prstGeom>
          <a:solidFill>
            <a:srgbClr val="FFFFFF"/>
          </a:solidFill>
          <a:ln w="12700">
            <a:solidFill>
              <a:srgbClr val="E7E5E4"/>
            </a:solidFill>
            <a:prstDash val="solid"/>
          </a:ln>
        </p:spPr>
      </p:sp>
      <p:sp>
        <p:nvSpPr>
          <p:cNvPr id="6" name="Text 4"/>
          <p:cNvSpPr txBox="1"/>
          <p:nvPr/>
        </p:nvSpPr>
        <p:spPr>
          <a:xfrm>
            <a:off x="822960" y="2148840"/>
            <a:ext cx="3017520" cy="457200"/>
          </a:xfrm>
          <a:prstGeom prst="rect">
            <a:avLst/>
          </a:prstGeom>
          <a:noFill/>
          <a:ln/>
        </p:spPr>
        <p:txBody>
          <a:bodyPr wrap="square" lIns="0" tIns="0" rIns="0" bIns="0" rtlCol="0" anchor="ctr"/>
          <a:lstStyle/>
          <a:p>
            <a:pPr indent="0" marL="0">
              <a:buNone/>
            </a:pPr>
            <a:r>
              <a:rPr lang="en-US" sz="2000" b="1" dirty="0">
                <a:solidFill>
                  <a:srgbClr val="57534E"/>
                </a:solidFill>
                <a:latin typeface="Cambria" pitchFamily="34" charset="0"/>
                <a:ea typeface="Cambria" pitchFamily="34" charset="-122"/>
                <a:cs typeface="Cambria" pitchFamily="34" charset="-120"/>
              </a:rPr>
              <a:t>Static EHR</a:t>
            </a:r>
            <a:endParaRPr lang="en-US" sz="2000" dirty="0"/>
          </a:p>
        </p:txBody>
      </p:sp>
      <p:sp>
        <p:nvSpPr>
          <p:cNvPr id="7" name="Text 5"/>
          <p:cNvSpPr txBox="1"/>
          <p:nvPr/>
        </p:nvSpPr>
        <p:spPr>
          <a:xfrm>
            <a:off x="822960" y="2743200"/>
            <a:ext cx="3063240" cy="26060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Age, sex, dry weight</a:t>
            </a:r>
            <a:endParaRPr lang="en-US" sz="1450" dirty="0"/>
          </a:p>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Diagnosis: diabetic nephropathy, CKD of unknown aetiology…</a:t>
            </a:r>
            <a:endParaRPr lang="en-US" sz="1450" dirty="0"/>
          </a:p>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ACE-i / ARB, beta-blocker</a:t>
            </a:r>
            <a:endParaRPr lang="en-US" sz="1450" dirty="0"/>
          </a:p>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Residual urine output, bicarbonate</a:t>
            </a:r>
            <a:endParaRPr lang="en-US" sz="1450" dirty="0"/>
          </a:p>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Dialysis pattern: 2× or 3× a week</a:t>
            </a:r>
            <a:endParaRPr lang="en-US" sz="1450" dirty="0"/>
          </a:p>
        </p:txBody>
      </p:sp>
      <p:sp>
        <p:nvSpPr>
          <p:cNvPr id="8" name="Shape 6"/>
          <p:cNvSpPr/>
          <p:nvPr/>
        </p:nvSpPr>
        <p:spPr>
          <a:xfrm>
            <a:off x="4297680" y="1965960"/>
            <a:ext cx="3520440" cy="3520440"/>
          </a:xfrm>
          <a:prstGeom prst="roundRect">
            <a:avLst>
              <a:gd name="adj" fmla="val 3117"/>
            </a:avLst>
          </a:prstGeom>
          <a:solidFill>
            <a:srgbClr val="FFFFFF"/>
          </a:solidFill>
          <a:ln w="12700">
            <a:solidFill>
              <a:srgbClr val="E7E5E4"/>
            </a:solidFill>
            <a:prstDash val="solid"/>
          </a:ln>
        </p:spPr>
      </p:sp>
      <p:sp>
        <p:nvSpPr>
          <p:cNvPr id="9" name="Text 7"/>
          <p:cNvSpPr txBox="1"/>
          <p:nvPr/>
        </p:nvSpPr>
        <p:spPr>
          <a:xfrm>
            <a:off x="4572000" y="2148840"/>
            <a:ext cx="3017520" cy="457200"/>
          </a:xfrm>
          <a:prstGeom prst="rect">
            <a:avLst/>
          </a:prstGeom>
          <a:noFill/>
          <a:ln/>
        </p:spPr>
        <p:txBody>
          <a:bodyPr wrap="square" lIns="0" tIns="0" rIns="0" bIns="0" rtlCol="0" anchor="ctr"/>
          <a:lstStyle/>
          <a:p>
            <a:pPr indent="0" marL="0">
              <a:buNone/>
            </a:pPr>
            <a:r>
              <a:rPr lang="en-US" sz="2000" b="1" dirty="0">
                <a:solidFill>
                  <a:srgbClr val="6D28D9"/>
                </a:solidFill>
                <a:latin typeface="Cambria" pitchFamily="34" charset="0"/>
                <a:ea typeface="Cambria" pitchFamily="34" charset="-122"/>
                <a:cs typeface="Cambria" pitchFamily="34" charset="-120"/>
              </a:rPr>
              <a:t>Wearables &amp; home</a:t>
            </a:r>
            <a:endParaRPr lang="en-US" sz="2000" dirty="0"/>
          </a:p>
        </p:txBody>
      </p:sp>
      <p:sp>
        <p:nvSpPr>
          <p:cNvPr id="10" name="Text 8"/>
          <p:cNvSpPr txBox="1"/>
          <p:nvPr/>
        </p:nvSpPr>
        <p:spPr>
          <a:xfrm>
            <a:off x="4572000" y="2743200"/>
            <a:ext cx="3063240" cy="26060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Smartwatch single-lead ECG, twice a day</a:t>
            </a:r>
            <a:endParaRPr lang="en-US" sz="1450" dirty="0"/>
          </a:p>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Smart-scale morning weight</a:t>
            </a:r>
            <a:endParaRPr lang="en-US" sz="1450" dirty="0"/>
          </a:p>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Steps, resting HR, HRV, sleep, BP</a:t>
            </a:r>
            <a:endParaRPr lang="en-US" sz="1450" dirty="0"/>
          </a:p>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Food diary: coconut water, banana, dry fruits, aloo sabzi</a:t>
            </a:r>
            <a:endParaRPr lang="en-US" sz="1450" dirty="0"/>
          </a:p>
        </p:txBody>
      </p:sp>
      <p:sp>
        <p:nvSpPr>
          <p:cNvPr id="11" name="Shape 9"/>
          <p:cNvSpPr/>
          <p:nvPr/>
        </p:nvSpPr>
        <p:spPr>
          <a:xfrm>
            <a:off x="8046720" y="1965960"/>
            <a:ext cx="3520440" cy="3520440"/>
          </a:xfrm>
          <a:prstGeom prst="roundRect">
            <a:avLst>
              <a:gd name="adj" fmla="val 3117"/>
            </a:avLst>
          </a:prstGeom>
          <a:solidFill>
            <a:srgbClr val="FFFFFF"/>
          </a:solidFill>
          <a:ln w="12700">
            <a:solidFill>
              <a:srgbClr val="E7E5E4"/>
            </a:solidFill>
            <a:prstDash val="solid"/>
          </a:ln>
        </p:spPr>
      </p:sp>
      <p:sp>
        <p:nvSpPr>
          <p:cNvPr id="12" name="Text 10"/>
          <p:cNvSpPr txBox="1"/>
          <p:nvPr/>
        </p:nvSpPr>
        <p:spPr>
          <a:xfrm>
            <a:off x="8321040" y="2148840"/>
            <a:ext cx="3017520" cy="457200"/>
          </a:xfrm>
          <a:prstGeom prst="rect">
            <a:avLst/>
          </a:prstGeom>
          <a:noFill/>
          <a:ln/>
        </p:spPr>
        <p:txBody>
          <a:bodyPr wrap="square" lIns="0" tIns="0" rIns="0" bIns="0" rtlCol="0" anchor="ctr"/>
          <a:lstStyle/>
          <a:p>
            <a:pPr indent="0" marL="0">
              <a:buNone/>
            </a:pPr>
            <a:r>
              <a:rPr lang="en-US" sz="2000" b="1" dirty="0">
                <a:solidFill>
                  <a:srgbClr val="0F766E"/>
                </a:solidFill>
                <a:latin typeface="Cambria" pitchFamily="34" charset="0"/>
                <a:ea typeface="Cambria" pitchFamily="34" charset="-122"/>
                <a:cs typeface="Cambria" pitchFamily="34" charset="-120"/>
              </a:rPr>
              <a:t>Dialysis unit</a:t>
            </a:r>
            <a:endParaRPr lang="en-US" sz="2000" dirty="0"/>
          </a:p>
        </p:txBody>
      </p:sp>
      <p:sp>
        <p:nvSpPr>
          <p:cNvPr id="13" name="Text 11"/>
          <p:cNvSpPr txBox="1"/>
          <p:nvPr/>
        </p:nvSpPr>
        <p:spPr>
          <a:xfrm>
            <a:off x="8321040" y="2743200"/>
            <a:ext cx="3063240" cy="260604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Session times and length</a:t>
            </a:r>
            <a:endParaRPr lang="en-US" sz="1450" dirty="0"/>
          </a:p>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Pre-dialysis weight</a:t>
            </a:r>
            <a:endParaRPr lang="en-US" sz="1450" dirty="0"/>
          </a:p>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Potassium lab, about monthly</a:t>
            </a:r>
            <a:endParaRPr lang="en-US" sz="1450" dirty="0"/>
          </a:p>
          <a:p>
            <a:pPr marL="342900" indent="-342900">
              <a:spcAft>
                <a:spcPts val="600"/>
              </a:spcAft>
              <a:buSzPct val="100000"/>
              <a:buChar char="•"/>
            </a:pPr>
            <a:r>
              <a:rPr lang="en-US" sz="1450" dirty="0">
                <a:solidFill>
                  <a:srgbClr val="1C1917"/>
                </a:solidFill>
                <a:latin typeface="Calibri" pitchFamily="34" charset="0"/>
                <a:ea typeface="Calibri" pitchFamily="34" charset="-122"/>
                <a:cs typeface="Calibri" pitchFamily="34" charset="-120"/>
              </a:rPr>
              <a:t>Chairs and shifts available</a:t>
            </a:r>
            <a:endParaRPr lang="en-US" sz="1450" dirty="0"/>
          </a:p>
        </p:txBody>
      </p:sp>
      <p:sp>
        <p:nvSpPr>
          <p:cNvPr id="14" name="Shape 12"/>
          <p:cNvSpPr/>
          <p:nvPr/>
        </p:nvSpPr>
        <p:spPr>
          <a:xfrm>
            <a:off x="548640" y="5669280"/>
            <a:ext cx="11064240" cy="566928"/>
          </a:xfrm>
          <a:prstGeom prst="roundRect">
            <a:avLst>
              <a:gd name="adj" fmla="val 19355"/>
            </a:avLst>
          </a:prstGeom>
          <a:solidFill>
            <a:srgbClr val="F0FDFA"/>
          </a:solidFill>
          <a:ln w="12700">
            <a:solidFill>
              <a:srgbClr val="F0FDFA"/>
            </a:solidFill>
            <a:prstDash val="solid"/>
          </a:ln>
        </p:spPr>
      </p:sp>
      <p:sp>
        <p:nvSpPr>
          <p:cNvPr id="15" name="Text 13"/>
          <p:cNvSpPr txBox="1"/>
          <p:nvPr/>
        </p:nvSpPr>
        <p:spPr>
          <a:xfrm>
            <a:off x="777240" y="5669280"/>
            <a:ext cx="10698480" cy="566928"/>
          </a:xfrm>
          <a:prstGeom prst="rect">
            <a:avLst/>
          </a:prstGeom>
          <a:noFill/>
          <a:ln/>
        </p:spPr>
        <p:txBody>
          <a:bodyPr wrap="square" lIns="0" tIns="0" rIns="0" bIns="0" rtlCol="0" anchor="ctr"/>
          <a:lstStyle/>
          <a:p>
            <a:pPr indent="0" marL="0">
              <a:buNone/>
            </a:pPr>
            <a:r>
              <a:rPr lang="en-US" sz="1350" dirty="0">
                <a:solidFill>
                  <a:srgbClr val="0F766E"/>
                </a:solidFill>
                <a:latin typeface="Calibri" pitchFamily="34" charset="0"/>
                <a:ea typeface="Calibri" pitchFamily="34" charset="-122"/>
                <a:cs typeface="Calibri" pitchFamily="34" charset="-120"/>
              </a:rPr>
              <a:t>Sandbox rules: no real patient data. Antaral's own simulator generates the EHRs, the hidden physiology, the ECG waveforms and the wearables. Next: validation on MIMIC-IV.</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847088"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1847088"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1 · PATIENT TWIN</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A Kalman filter around real potassium physiology</a:t>
            </a:r>
            <a:endParaRPr lang="en-US" sz="3400" dirty="0"/>
          </a:p>
        </p:txBody>
      </p:sp>
      <p:sp>
        <p:nvSpPr>
          <p:cNvPr id="5" name="Shape 3"/>
          <p:cNvSpPr/>
          <p:nvPr/>
        </p:nvSpPr>
        <p:spPr>
          <a:xfrm>
            <a:off x="548640" y="1828800"/>
            <a:ext cx="3931920" cy="4114800"/>
          </a:xfrm>
          <a:prstGeom prst="roundRect">
            <a:avLst>
              <a:gd name="adj" fmla="val 2791"/>
            </a:avLst>
          </a:prstGeom>
          <a:solidFill>
            <a:srgbClr val="F0FDFA"/>
          </a:solidFill>
          <a:ln w="12700">
            <a:solidFill>
              <a:srgbClr val="F0FDFA"/>
            </a:solidFill>
            <a:prstDash val="solid"/>
          </a:ln>
        </p:spPr>
      </p:sp>
      <p:sp>
        <p:nvSpPr>
          <p:cNvPr id="6" name="Text 4"/>
          <p:cNvSpPr txBox="1"/>
          <p:nvPr/>
        </p:nvSpPr>
        <p:spPr>
          <a:xfrm>
            <a:off x="777240" y="2011680"/>
            <a:ext cx="3520440" cy="3749040"/>
          </a:xfrm>
          <a:prstGeom prst="rect">
            <a:avLst/>
          </a:prstGeom>
          <a:noFill/>
          <a:ln/>
        </p:spPr>
        <p:txBody>
          <a:bodyPr wrap="square" lIns="0" tIns="0" rIns="0" bIns="0" rtlCol="0" anchor="t"/>
          <a:lstStyle/>
          <a:p>
            <a:pPr indent="0" marL="0">
              <a:buNone/>
            </a:pPr>
            <a:r>
              <a:rPr lang="en-US" sz="1400" b="1" dirty="0">
                <a:solidFill>
                  <a:srgbClr val="0F766E"/>
                </a:solidFill>
                <a:latin typeface="Calibri" pitchFamily="34" charset="0"/>
                <a:ea typeface="Calibri" pitchFamily="34" charset="-122"/>
                <a:cs typeface="Calibri" pitchFamily="34" charset="-120"/>
              </a:rPr>
              <a:t>Model</a:t>
            </a:r>
            <a:endParaRPr lang="en-US" sz="1400" dirty="0"/>
          </a:p>
          <a:p>
            <a:pPr indent="0" marL="0">
              <a:buNone/>
            </a:pPr>
            <a:r>
              <a:rPr lang="en-US" sz="1200" dirty="0">
                <a:solidFill>
                  <a:srgbClr val="1C1917"/>
                </a:solidFill>
                <a:latin typeface="Courier New" pitchFamily="34" charset="0"/>
                <a:ea typeface="Courier New" pitchFamily="34" charset="-122"/>
                <a:cs typeface="Courier New" pitchFamily="34" charset="-120"/>
              </a:rPr>
              <a:t>dK/dt = (absorbed intake − renal + tissue release) / V</a:t>
            </a:r>
            <a:endParaRPr lang="en-US" sz="1400" dirty="0"/>
          </a:p>
          <a:p>
            <a:pPr indent="0" marL="0">
              <a:buNone/>
            </a:pPr>
            <a:r>
              <a:rPr lang="en-US" sz="600" dirty="0">
                <a:solidFill>
                  <a:srgbClr val="1C1917"/>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F766E"/>
                </a:solidFill>
                <a:latin typeface="Calibri" pitchFamily="34" charset="0"/>
                <a:ea typeface="Calibri" pitchFamily="34" charset="-122"/>
                <a:cs typeface="Calibri" pitchFamily="34" charset="-120"/>
              </a:rPr>
              <a:t>Hidden state</a:t>
            </a:r>
            <a:endParaRPr lang="en-US" sz="1400" dirty="0"/>
          </a:p>
          <a:p>
            <a:pPr indent="0" marL="0">
              <a:buNone/>
            </a:pPr>
            <a:r>
              <a:rPr lang="en-US" sz="1400" dirty="0">
                <a:solidFill>
                  <a:srgbClr val="1C1917"/>
                </a:solidFill>
                <a:latin typeface="Calibri" pitchFamily="34" charset="0"/>
                <a:ea typeface="Calibri" pitchFamily="34" charset="-122"/>
                <a:cs typeface="Calibri" pitchFamily="34" charset="-120"/>
              </a:rPr>
              <a:t>potassium K and a personal drift b, learned over days</a:t>
            </a:r>
            <a:endParaRPr lang="en-US" sz="1400" dirty="0"/>
          </a:p>
          <a:p>
            <a:pPr indent="0" marL="0">
              <a:buNone/>
            </a:pPr>
            <a:r>
              <a:rPr lang="en-US" sz="600" dirty="0">
                <a:solidFill>
                  <a:srgbClr val="1C1917"/>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F766E"/>
                </a:solidFill>
                <a:latin typeface="Calibri" pitchFamily="34" charset="0"/>
                <a:ea typeface="Calibri" pitchFamily="34" charset="-122"/>
                <a:cs typeface="Calibri" pitchFamily="34" charset="-120"/>
              </a:rPr>
              <a:t>Corrected by</a:t>
            </a:r>
            <a:endParaRPr lang="en-US" sz="1400" dirty="0"/>
          </a:p>
          <a:p>
            <a:pPr indent="0" marL="0">
              <a:buNone/>
            </a:pPr>
            <a:r>
              <a:rPr lang="en-US" sz="1400" dirty="0">
                <a:solidFill>
                  <a:srgbClr val="1C1917"/>
                </a:solidFill>
                <a:latin typeface="Calibri" pitchFamily="34" charset="0"/>
                <a:ea typeface="Calibri" pitchFamily="34" charset="-122"/>
                <a:cs typeface="Calibri" pitchFamily="34" charset="-120"/>
              </a:rPr>
              <a:t>monthly labs (precise) and smartwatch-ECG estimates (noisy)</a:t>
            </a:r>
            <a:endParaRPr lang="en-US" sz="1400" dirty="0"/>
          </a:p>
          <a:p>
            <a:pPr indent="0" marL="0">
              <a:buNone/>
            </a:pPr>
            <a:r>
              <a:rPr lang="en-US" sz="600" dirty="0">
                <a:solidFill>
                  <a:srgbClr val="1C1917"/>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0F766E"/>
                </a:solidFill>
                <a:latin typeface="Calibri" pitchFamily="34" charset="0"/>
                <a:ea typeface="Calibri" pitchFamily="34" charset="-122"/>
                <a:cs typeface="Calibri" pitchFamily="34" charset="-120"/>
              </a:rPr>
              <a:t>What-if</a:t>
            </a:r>
            <a:endParaRPr lang="en-US" sz="1400" dirty="0"/>
          </a:p>
          <a:p>
            <a:pPr indent="0" marL="0">
              <a:buNone/>
            </a:pPr>
            <a:r>
              <a:rPr lang="en-US" sz="1400" dirty="0">
                <a:solidFill>
                  <a:srgbClr val="1C1917"/>
                </a:solidFill>
                <a:latin typeface="Calibri" pitchFamily="34" charset="0"/>
                <a:ea typeface="Calibri" pitchFamily="34" charset="-122"/>
                <a:cs typeface="Calibri" pitchFamily="34" charset="-120"/>
              </a:rPr>
              <a:t>Monte Carlo rollouts for any session time, food, binder or diet call</a:t>
            </a:r>
            <a:endParaRPr lang="en-US" sz="1400" dirty="0"/>
          </a:p>
        </p:txBody>
      </p:sp>
      <p:pic>
        <p:nvPicPr>
          <p:cNvPr id="7" name="Image 0" descr="/home/claude/antaral/docs/deck_assets/lakshmi_twin.png">    </p:cNvPr>
          <p:cNvPicPr>
            <a:picLocks noChangeAspect="1"/>
          </p:cNvPicPr>
          <p:nvPr/>
        </p:nvPicPr>
        <p:blipFill>
          <a:blip r:embed="rId1"/>
          <a:stretch>
            <a:fillRect/>
          </a:stretch>
        </p:blipFill>
        <p:spPr>
          <a:xfrm>
            <a:off x="4709160" y="1874520"/>
            <a:ext cx="6949440" cy="2779776"/>
          </a:xfrm>
          <a:prstGeom prst="rect">
            <a:avLst/>
          </a:prstGeom>
        </p:spPr>
      </p:pic>
      <p:sp>
        <p:nvSpPr>
          <p:cNvPr id="8" name="Text 5"/>
          <p:cNvSpPr txBox="1"/>
          <p:nvPr/>
        </p:nvSpPr>
        <p:spPr>
          <a:xfrm>
            <a:off x="4709160" y="4800600"/>
            <a:ext cx="6949440" cy="548640"/>
          </a:xfrm>
          <a:prstGeom prst="rect">
            <a:avLst/>
          </a:prstGeom>
          <a:noFill/>
          <a:ln/>
        </p:spPr>
        <p:txBody>
          <a:bodyPr wrap="square" lIns="0" tIns="0" rIns="0" bIns="0" rtlCol="0" anchor="ctr"/>
          <a:lstStyle/>
          <a:p>
            <a:pPr indent="0" marL="0">
              <a:buNone/>
            </a:pPr>
            <a:r>
              <a:rPr lang="en-US" sz="1200" dirty="0">
                <a:solidFill>
                  <a:srgbClr val="57534E"/>
                </a:solidFill>
                <a:latin typeface="Calibri" pitchFamily="34" charset="0"/>
                <a:ea typeface="Calibri" pitchFamily="34" charset="-122"/>
                <a:cs typeface="Calibri" pitchFamily="34" charset="-120"/>
              </a:rPr>
              <a:t>Lakshmi's twin: estimate tracks the simulated truth (dotted); forecast crosses 6.0 before Thursday and again before Monday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3236976"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3236976"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SMARTWATCH AS A POTASSIUM SENSOR</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Reading potassium from a peaked T wave</a:t>
            </a:r>
            <a:endParaRPr lang="en-US" sz="3400" dirty="0"/>
          </a:p>
        </p:txBody>
      </p:sp>
      <p:pic>
        <p:nvPicPr>
          <p:cNvPr id="5" name="Image 0" descr="/home/claude/antaral/docs/deck_assets/ecg_beats.png">    </p:cNvPr>
          <p:cNvPicPr>
            <a:picLocks noChangeAspect="1"/>
          </p:cNvPicPr>
          <p:nvPr/>
        </p:nvPicPr>
        <p:blipFill>
          <a:blip r:embed="rId1"/>
          <a:stretch>
            <a:fillRect/>
          </a:stretch>
        </p:blipFill>
        <p:spPr>
          <a:xfrm>
            <a:off x="548640" y="1828800"/>
            <a:ext cx="5852160" cy="2926080"/>
          </a:xfrm>
          <a:prstGeom prst="rect">
            <a:avLst/>
          </a:prstGeom>
        </p:spPr>
      </p:pic>
      <p:sp>
        <p:nvSpPr>
          <p:cNvPr id="6" name="Text 3"/>
          <p:cNvSpPr txBox="1"/>
          <p:nvPr/>
        </p:nvSpPr>
        <p:spPr>
          <a:xfrm>
            <a:off x="548640" y="4892040"/>
            <a:ext cx="5852160" cy="822960"/>
          </a:xfrm>
          <a:prstGeom prst="rect">
            <a:avLst/>
          </a:prstGeom>
          <a:noFill/>
          <a:ln/>
        </p:spPr>
        <p:txBody>
          <a:bodyPr wrap="square" lIns="0" tIns="0" rIns="0" bIns="0" rtlCol="0" anchor="ctr"/>
          <a:lstStyle/>
          <a:p>
            <a:pPr indent="0" marL="0">
              <a:buNone/>
            </a:pPr>
            <a:r>
              <a:rPr lang="en-US" sz="1350" dirty="0">
                <a:solidFill>
                  <a:srgbClr val="57534E"/>
                </a:solidFill>
                <a:latin typeface="Calibri" pitchFamily="34" charset="0"/>
                <a:ea typeface="Calibri" pitchFamily="34" charset="-122"/>
                <a:cs typeface="Calibri" pitchFamily="34" charset="-120"/>
              </a:rPr>
              <a:t>High potassium: taller, narrower T wave; longer PR; wider QRS. Each beat is compared with the patient's own post-dialysis beat.</a:t>
            </a:r>
            <a:endParaRPr lang="en-US" sz="1350" dirty="0"/>
          </a:p>
        </p:txBody>
      </p:sp>
      <p:sp>
        <p:nvSpPr>
          <p:cNvPr id="7" name="Text 4"/>
          <p:cNvSpPr txBox="1"/>
          <p:nvPr/>
        </p:nvSpPr>
        <p:spPr>
          <a:xfrm>
            <a:off x="6858000" y="1828800"/>
            <a:ext cx="2377440" cy="822960"/>
          </a:xfrm>
          <a:prstGeom prst="rect">
            <a:avLst/>
          </a:prstGeom>
          <a:noFill/>
          <a:ln/>
        </p:spPr>
        <p:txBody>
          <a:bodyPr wrap="square" lIns="0" tIns="0" rIns="0" bIns="0" rtlCol="0" anchor="ctr"/>
          <a:lstStyle/>
          <a:p>
            <a:pPr indent="0" marL="0">
              <a:buNone/>
            </a:pPr>
            <a:r>
              <a:rPr lang="en-US" sz="4000" b="1" dirty="0">
                <a:solidFill>
                  <a:srgbClr val="6D28D9"/>
                </a:solidFill>
                <a:latin typeface="Cambria" pitchFamily="34" charset="0"/>
                <a:ea typeface="Cambria" pitchFamily="34" charset="-122"/>
                <a:cs typeface="Cambria" pitchFamily="34" charset="-120"/>
              </a:rPr>
              <a:t>0.50</a:t>
            </a:r>
            <a:endParaRPr lang="en-US" sz="4000" dirty="0"/>
          </a:p>
        </p:txBody>
      </p:sp>
      <p:sp>
        <p:nvSpPr>
          <p:cNvPr id="8" name="Text 5"/>
          <p:cNvSpPr txBox="1"/>
          <p:nvPr/>
        </p:nvSpPr>
        <p:spPr>
          <a:xfrm>
            <a:off x="9281160" y="1828800"/>
            <a:ext cx="2377440" cy="822960"/>
          </a:xfrm>
          <a:prstGeom prst="rect">
            <a:avLst/>
          </a:prstGeom>
          <a:noFill/>
          <a:ln/>
        </p:spPr>
        <p:txBody>
          <a:bodyPr wrap="square" lIns="0" tIns="0" rIns="0" bIns="0" rtlCol="0" anchor="ctr"/>
          <a:lstStyle/>
          <a:p>
            <a:pPr indent="0" marL="0">
              <a:buNone/>
            </a:pPr>
            <a:r>
              <a:rPr lang="en-US" sz="1400" dirty="0">
                <a:solidFill>
                  <a:srgbClr val="1C1917"/>
                </a:solidFill>
                <a:latin typeface="Calibri" pitchFamily="34" charset="0"/>
                <a:ea typeface="Calibri" pitchFamily="34" charset="-122"/>
                <a:cs typeface="Calibri" pitchFamily="34" charset="-120"/>
              </a:rPr>
              <a:t>mEq/L mean absolute error on held-out patients</a:t>
            </a:r>
            <a:endParaRPr lang="en-US" sz="1400" dirty="0"/>
          </a:p>
        </p:txBody>
      </p:sp>
      <p:sp>
        <p:nvSpPr>
          <p:cNvPr id="9" name="Text 6"/>
          <p:cNvSpPr txBox="1"/>
          <p:nvPr/>
        </p:nvSpPr>
        <p:spPr>
          <a:xfrm>
            <a:off x="6858000" y="3063240"/>
            <a:ext cx="2377440" cy="822960"/>
          </a:xfrm>
          <a:prstGeom prst="rect">
            <a:avLst/>
          </a:prstGeom>
          <a:noFill/>
          <a:ln/>
        </p:spPr>
        <p:txBody>
          <a:bodyPr wrap="square" lIns="0" tIns="0" rIns="0" bIns="0" rtlCol="0" anchor="ctr"/>
          <a:lstStyle/>
          <a:p>
            <a:pPr indent="0" marL="0">
              <a:buNone/>
            </a:pPr>
            <a:r>
              <a:rPr lang="en-US" sz="4000" b="1" dirty="0">
                <a:solidFill>
                  <a:srgbClr val="6D28D9"/>
                </a:solidFill>
                <a:latin typeface="Cambria" pitchFamily="34" charset="0"/>
                <a:ea typeface="Cambria" pitchFamily="34" charset="-122"/>
                <a:cs typeface="Cambria" pitchFamily="34" charset="-120"/>
              </a:rPr>
              <a:t>0.82</a:t>
            </a:r>
            <a:endParaRPr lang="en-US" sz="4000" dirty="0"/>
          </a:p>
        </p:txBody>
      </p:sp>
      <p:sp>
        <p:nvSpPr>
          <p:cNvPr id="10" name="Text 7"/>
          <p:cNvSpPr txBox="1"/>
          <p:nvPr/>
        </p:nvSpPr>
        <p:spPr>
          <a:xfrm>
            <a:off x="9281160" y="3063240"/>
            <a:ext cx="2377440" cy="822960"/>
          </a:xfrm>
          <a:prstGeom prst="rect">
            <a:avLst/>
          </a:prstGeom>
          <a:noFill/>
          <a:ln/>
        </p:spPr>
        <p:txBody>
          <a:bodyPr wrap="square" lIns="0" tIns="0" rIns="0" bIns="0" rtlCol="0" anchor="ctr"/>
          <a:lstStyle/>
          <a:p>
            <a:pPr indent="0" marL="0">
              <a:buNone/>
            </a:pPr>
            <a:r>
              <a:rPr lang="en-US" sz="1400" dirty="0">
                <a:solidFill>
                  <a:srgbClr val="1C1917"/>
                </a:solidFill>
                <a:latin typeface="Calibri" pitchFamily="34" charset="0"/>
                <a:ea typeface="Calibri" pitchFamily="34" charset="-122"/>
                <a:cs typeface="Calibri" pitchFamily="34" charset="-120"/>
              </a:rPr>
              <a:t>correlation with true potassium</a:t>
            </a:r>
            <a:endParaRPr lang="en-US" sz="1400" dirty="0"/>
          </a:p>
        </p:txBody>
      </p:sp>
      <p:sp>
        <p:nvSpPr>
          <p:cNvPr id="11" name="Text 8"/>
          <p:cNvSpPr txBox="1"/>
          <p:nvPr/>
        </p:nvSpPr>
        <p:spPr>
          <a:xfrm>
            <a:off x="6858000" y="4297680"/>
            <a:ext cx="2377440" cy="822960"/>
          </a:xfrm>
          <a:prstGeom prst="rect">
            <a:avLst/>
          </a:prstGeom>
          <a:noFill/>
          <a:ln/>
        </p:spPr>
        <p:txBody>
          <a:bodyPr wrap="square" lIns="0" tIns="0" rIns="0" bIns="0" rtlCol="0" anchor="ctr"/>
          <a:lstStyle/>
          <a:p>
            <a:pPr indent="0" marL="0">
              <a:buNone/>
            </a:pPr>
            <a:r>
              <a:rPr lang="en-US" sz="2800" b="1" dirty="0">
                <a:solidFill>
                  <a:srgbClr val="6D28D9"/>
                </a:solidFill>
                <a:latin typeface="Cambria" pitchFamily="34" charset="0"/>
                <a:ea typeface="Cambria" pitchFamily="34" charset="-122"/>
                <a:cs typeface="Cambria" pitchFamily="34" charset="-120"/>
              </a:rPr>
              <a:t>0.70 → 0.62</a:t>
            </a:r>
            <a:endParaRPr lang="en-US" sz="2800" dirty="0"/>
          </a:p>
        </p:txBody>
      </p:sp>
      <p:sp>
        <p:nvSpPr>
          <p:cNvPr id="12" name="Text 9"/>
          <p:cNvSpPr txBox="1"/>
          <p:nvPr/>
        </p:nvSpPr>
        <p:spPr>
          <a:xfrm>
            <a:off x="9281160" y="4297680"/>
            <a:ext cx="2377440" cy="822960"/>
          </a:xfrm>
          <a:prstGeom prst="rect">
            <a:avLst/>
          </a:prstGeom>
          <a:noFill/>
          <a:ln/>
        </p:spPr>
        <p:txBody>
          <a:bodyPr wrap="square" lIns="0" tIns="0" rIns="0" bIns="0" rtlCol="0" anchor="ctr"/>
          <a:lstStyle/>
          <a:p>
            <a:pPr indent="0" marL="0">
              <a:buNone/>
            </a:pPr>
            <a:r>
              <a:rPr lang="en-US" sz="1400" dirty="0">
                <a:solidFill>
                  <a:srgbClr val="1C1917"/>
                </a:solidFill>
                <a:latin typeface="Calibri" pitchFamily="34" charset="0"/>
                <a:ea typeface="Calibri" pitchFamily="34" charset="-122"/>
                <a:cs typeface="Calibri" pitchFamily="34" charset="-120"/>
              </a:rPr>
              <a:t>error (RMSE) after personalising to the patient's own baseline</a:t>
            </a:r>
            <a:endParaRPr lang="en-US" sz="1400" dirty="0"/>
          </a:p>
        </p:txBody>
      </p:sp>
      <p:sp>
        <p:nvSpPr>
          <p:cNvPr id="13" name="Text 10"/>
          <p:cNvSpPr txBox="1"/>
          <p:nvPr/>
        </p:nvSpPr>
        <p:spPr>
          <a:xfrm>
            <a:off x="6858000" y="5532120"/>
            <a:ext cx="4800600" cy="731520"/>
          </a:xfrm>
          <a:prstGeom prst="rect">
            <a:avLst/>
          </a:prstGeom>
          <a:noFill/>
          <a:ln/>
        </p:spPr>
        <p:txBody>
          <a:bodyPr wrap="square" lIns="0" tIns="0" rIns="0" bIns="0" rtlCol="0" anchor="ctr"/>
          <a:lstStyle/>
          <a:p>
            <a:pPr indent="0" marL="0">
              <a:buNone/>
            </a:pPr>
            <a:r>
              <a:rPr lang="en-US" sz="1200" i="1" dirty="0">
                <a:solidFill>
                  <a:srgbClr val="57534E"/>
                </a:solidFill>
                <a:latin typeface="Calibri" pitchFamily="34" charset="0"/>
                <a:ea typeface="Calibri" pitchFamily="34" charset="-122"/>
                <a:cs typeface="Calibri" pitchFamily="34" charset="-120"/>
              </a:rPr>
              <a:t>Deliberately noisy, like a real watch: the twin trusts it less than a lab. Deep learning on 2-lead ECGs has detected hyperkalaemia with AUROC 0.85–0.88 in large CKD cohorts [2].</a:t>
            </a:r>
            <a:endParaRPr lang="en-US" sz="1200" dirty="0"/>
          </a:p>
        </p:txBody>
      </p:sp>
      <p:sp>
        <p:nvSpPr>
          <p:cNvPr id="14" name="Text 11"/>
          <p:cNvSpPr txBox="1"/>
          <p:nvPr/>
        </p:nvSpPr>
        <p:spPr>
          <a:xfrm>
            <a:off x="548640" y="6400800"/>
            <a:ext cx="11091672" cy="274320"/>
          </a:xfrm>
          <a:prstGeom prst="rect">
            <a:avLst/>
          </a:prstGeom>
          <a:noFill/>
          <a:ln/>
        </p:spPr>
        <p:txBody>
          <a:bodyPr wrap="square" lIns="0" tIns="0" rIns="0" bIns="0" rtlCol="0" anchor="ctr"/>
          <a:lstStyle/>
          <a:p>
            <a:pPr indent="0" marL="0">
              <a:buNone/>
            </a:pPr>
            <a:r>
              <a:rPr lang="en-US" sz="950" dirty="0">
                <a:solidFill>
                  <a:srgbClr val="8A8580"/>
                </a:solidFill>
                <a:latin typeface="Calibri" pitchFamily="34" charset="0"/>
                <a:ea typeface="Calibri" pitchFamily="34" charset="-122"/>
                <a:cs typeface="Calibri" pitchFamily="34" charset="-120"/>
              </a:rPr>
              <a:t>[2] Galloway et al., JAMA Cardiology 2019</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368296"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2368296"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OUTCOME 1 · PREDICTION</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Fusion beats every single data stream</a:t>
            </a:r>
            <a:endParaRPr lang="en-US" sz="3400" dirty="0"/>
          </a:p>
        </p:txBody>
      </p:sp>
      <p:graphicFrame>
        <p:nvGraphicFramePr>
          <p:cNvPr id="5" name="Chart 0" descr=""/>
          <p:cNvGraphicFramePr/>
          <p:nvPr/>
        </p:nvGraphicFramePr>
        <p:xfrm>
          <a:off x="548640" y="182880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498080" y="1828800"/>
            <a:ext cx="4160520" cy="1280160"/>
          </a:xfrm>
          <a:prstGeom prst="roundRect">
            <a:avLst>
              <a:gd name="adj" fmla="val 8571"/>
            </a:avLst>
          </a:prstGeom>
          <a:solidFill>
            <a:srgbClr val="F0FDFA"/>
          </a:solidFill>
          <a:ln w="12700">
            <a:solidFill>
              <a:srgbClr val="F0FDFA"/>
            </a:solidFill>
            <a:prstDash val="solid"/>
          </a:ln>
        </p:spPr>
      </p:sp>
      <p:sp>
        <p:nvSpPr>
          <p:cNvPr id="7" name="Text 4"/>
          <p:cNvSpPr txBox="1"/>
          <p:nvPr/>
        </p:nvSpPr>
        <p:spPr>
          <a:xfrm>
            <a:off x="7680960" y="1938528"/>
            <a:ext cx="1737360" cy="1051560"/>
          </a:xfrm>
          <a:prstGeom prst="rect">
            <a:avLst/>
          </a:prstGeom>
          <a:noFill/>
          <a:ln/>
        </p:spPr>
        <p:txBody>
          <a:bodyPr wrap="square" lIns="0" tIns="0" rIns="0" bIns="0" rtlCol="0" anchor="ctr"/>
          <a:lstStyle/>
          <a:p>
            <a:pPr indent="0" marL="0">
              <a:buNone/>
            </a:pPr>
            <a:r>
              <a:rPr lang="en-US" sz="3400" b="1" dirty="0">
                <a:solidFill>
                  <a:srgbClr val="0F766E"/>
                </a:solidFill>
                <a:latin typeface="Cambria" pitchFamily="34" charset="0"/>
                <a:ea typeface="Cambria" pitchFamily="34" charset="-122"/>
                <a:cs typeface="Cambria" pitchFamily="34" charset="-120"/>
              </a:rPr>
              <a:t>89%</a:t>
            </a:r>
            <a:endParaRPr lang="en-US" sz="3400" dirty="0"/>
          </a:p>
        </p:txBody>
      </p:sp>
      <p:sp>
        <p:nvSpPr>
          <p:cNvPr id="8" name="Text 5"/>
          <p:cNvSpPr txBox="1"/>
          <p:nvPr/>
        </p:nvSpPr>
        <p:spPr>
          <a:xfrm>
            <a:off x="9418320" y="1938528"/>
            <a:ext cx="2148840" cy="105156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of dangerous nights caught at 90% specificity</a:t>
            </a:r>
            <a:endParaRPr lang="en-US" sz="1300" dirty="0"/>
          </a:p>
          <a:p>
            <a:pPr indent="0" marL="0">
              <a:buNone/>
            </a:pPr>
            <a:r>
              <a:rPr lang="en-US" sz="1150" dirty="0">
                <a:solidFill>
                  <a:srgbClr val="57534E"/>
                </a:solidFill>
                <a:latin typeface="Calibri" pitchFamily="34" charset="0"/>
                <a:ea typeface="Calibri" pitchFamily="34" charset="-122"/>
                <a:cs typeface="Calibri" pitchFamily="34" charset="-120"/>
              </a:rPr>
              <a:t>vs 70% with the last monthly lab</a:t>
            </a:r>
            <a:endParaRPr lang="en-US" sz="1300" dirty="0"/>
          </a:p>
        </p:txBody>
      </p:sp>
      <p:sp>
        <p:nvSpPr>
          <p:cNvPr id="9" name="Shape 6"/>
          <p:cNvSpPr/>
          <p:nvPr/>
        </p:nvSpPr>
        <p:spPr>
          <a:xfrm>
            <a:off x="7498080" y="3273552"/>
            <a:ext cx="4160520" cy="1280160"/>
          </a:xfrm>
          <a:prstGeom prst="roundRect">
            <a:avLst>
              <a:gd name="adj" fmla="val 8571"/>
            </a:avLst>
          </a:prstGeom>
          <a:solidFill>
            <a:srgbClr val="F0FDFA"/>
          </a:solidFill>
          <a:ln w="12700">
            <a:solidFill>
              <a:srgbClr val="F0FDFA"/>
            </a:solidFill>
            <a:prstDash val="solid"/>
          </a:ln>
        </p:spPr>
      </p:sp>
      <p:sp>
        <p:nvSpPr>
          <p:cNvPr id="10" name="Text 7"/>
          <p:cNvSpPr txBox="1"/>
          <p:nvPr/>
        </p:nvSpPr>
        <p:spPr>
          <a:xfrm>
            <a:off x="7680960" y="3383280"/>
            <a:ext cx="1737360" cy="1051560"/>
          </a:xfrm>
          <a:prstGeom prst="rect">
            <a:avLst/>
          </a:prstGeom>
          <a:noFill/>
          <a:ln/>
        </p:spPr>
        <p:txBody>
          <a:bodyPr wrap="square" lIns="0" tIns="0" rIns="0" bIns="0" rtlCol="0" anchor="ctr"/>
          <a:lstStyle/>
          <a:p>
            <a:pPr indent="0" marL="0">
              <a:buNone/>
            </a:pPr>
            <a:r>
              <a:rPr lang="en-US" sz="3400" b="1" dirty="0">
                <a:solidFill>
                  <a:srgbClr val="0F766E"/>
                </a:solidFill>
                <a:latin typeface="Cambria" pitchFamily="34" charset="0"/>
                <a:ea typeface="Cambria" pitchFamily="34" charset="-122"/>
                <a:cs typeface="Cambria" pitchFamily="34" charset="-120"/>
              </a:rPr>
              <a:t>0.85</a:t>
            </a:r>
            <a:endParaRPr lang="en-US" sz="3400" dirty="0"/>
          </a:p>
        </p:txBody>
      </p:sp>
      <p:sp>
        <p:nvSpPr>
          <p:cNvPr id="11" name="Text 8"/>
          <p:cNvSpPr txBox="1"/>
          <p:nvPr/>
        </p:nvSpPr>
        <p:spPr>
          <a:xfrm>
            <a:off x="9418320" y="3383280"/>
            <a:ext cx="2148840" cy="105156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within-patient AUROC: spots her dangerous weeks</a:t>
            </a:r>
            <a:endParaRPr lang="en-US" sz="1300" dirty="0"/>
          </a:p>
          <a:p>
            <a:pPr indent="0" marL="0">
              <a:buNone/>
            </a:pPr>
            <a:r>
              <a:rPr lang="en-US" sz="1150" dirty="0">
                <a:solidFill>
                  <a:srgbClr val="57534E"/>
                </a:solidFill>
                <a:latin typeface="Calibri" pitchFamily="34" charset="0"/>
                <a:ea typeface="Calibri" pitchFamily="34" charset="-122"/>
                <a:cs typeface="Calibri" pitchFamily="34" charset="-120"/>
              </a:rPr>
              <a:t>vs 0.56 for the lab</a:t>
            </a:r>
            <a:endParaRPr lang="en-US" sz="1300" dirty="0"/>
          </a:p>
        </p:txBody>
      </p:sp>
      <p:sp>
        <p:nvSpPr>
          <p:cNvPr id="12" name="Shape 9"/>
          <p:cNvSpPr/>
          <p:nvPr/>
        </p:nvSpPr>
        <p:spPr>
          <a:xfrm>
            <a:off x="7498080" y="4718304"/>
            <a:ext cx="4160520" cy="1280160"/>
          </a:xfrm>
          <a:prstGeom prst="roundRect">
            <a:avLst>
              <a:gd name="adj" fmla="val 8571"/>
            </a:avLst>
          </a:prstGeom>
          <a:solidFill>
            <a:srgbClr val="F0FDFA"/>
          </a:solidFill>
          <a:ln w="12700">
            <a:solidFill>
              <a:srgbClr val="F0FDFA"/>
            </a:solidFill>
            <a:prstDash val="solid"/>
          </a:ln>
        </p:spPr>
      </p:sp>
      <p:sp>
        <p:nvSpPr>
          <p:cNvPr id="13" name="Text 10"/>
          <p:cNvSpPr txBox="1"/>
          <p:nvPr/>
        </p:nvSpPr>
        <p:spPr>
          <a:xfrm>
            <a:off x="7680960" y="4828032"/>
            <a:ext cx="1737360" cy="1051560"/>
          </a:xfrm>
          <a:prstGeom prst="rect">
            <a:avLst/>
          </a:prstGeom>
          <a:noFill/>
          <a:ln/>
        </p:spPr>
        <p:txBody>
          <a:bodyPr wrap="square" lIns="0" tIns="0" rIns="0" bIns="0" rtlCol="0" anchor="ctr"/>
          <a:lstStyle/>
          <a:p>
            <a:pPr indent="0" marL="0">
              <a:buNone/>
            </a:pPr>
            <a:r>
              <a:rPr lang="en-US" sz="3400" b="1" dirty="0">
                <a:solidFill>
                  <a:srgbClr val="0F766E"/>
                </a:solidFill>
                <a:latin typeface="Cambria" pitchFamily="34" charset="0"/>
                <a:ea typeface="Cambria" pitchFamily="34" charset="-122"/>
                <a:cs typeface="Cambria" pitchFamily="34" charset="-120"/>
              </a:rPr>
              <a:t>13,000</a:t>
            </a:r>
            <a:endParaRPr lang="en-US" sz="3400" dirty="0"/>
          </a:p>
        </p:txBody>
      </p:sp>
      <p:sp>
        <p:nvSpPr>
          <p:cNvPr id="14" name="Text 11"/>
          <p:cNvSpPr txBox="1"/>
          <p:nvPr/>
        </p:nvSpPr>
        <p:spPr>
          <a:xfrm>
            <a:off x="9418320" y="4828032"/>
            <a:ext cx="2148840" cy="1051560"/>
          </a:xfrm>
          <a:prstGeom prst="rect">
            <a:avLst/>
          </a:prstGeom>
          <a:noFill/>
          <a:ln/>
        </p:spPr>
        <p:txBody>
          <a:bodyPr wrap="square" lIns="0" tIns="0" rIns="0" bIns="0" rtlCol="0" anchor="ctr"/>
          <a:lstStyle/>
          <a:p>
            <a:pPr indent="0" marL="0">
              <a:buNone/>
            </a:pPr>
            <a:r>
              <a:rPr lang="en-US" sz="1300" dirty="0">
                <a:solidFill>
                  <a:srgbClr val="1C1917"/>
                </a:solidFill>
                <a:latin typeface="Calibri" pitchFamily="34" charset="0"/>
                <a:ea typeface="Calibri" pitchFamily="34" charset="-122"/>
                <a:cs typeface="Calibri" pitchFamily="34" charset="-120"/>
              </a:rPr>
              <a:t>patient-nights on held-out patients</a:t>
            </a:r>
            <a:endParaRPr lang="en-US" sz="1300" dirty="0"/>
          </a:p>
          <a:p>
            <a:pPr indent="0" marL="0">
              <a:buNone/>
            </a:pPr>
            <a:r>
              <a:rPr lang="en-US" sz="1150" dirty="0">
                <a:solidFill>
                  <a:srgbClr val="57534E"/>
                </a:solidFill>
                <a:latin typeface="Calibri" pitchFamily="34" charset="0"/>
                <a:ea typeface="Calibri" pitchFamily="34" charset="-122"/>
                <a:cs typeface="Calibri" pitchFamily="34" charset="-120"/>
              </a:rPr>
              <a:t>95% CI for AUROC: 0.955–0.975</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281428"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2281428"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OUTCOME 2 · UNIT TWIN</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Re-timing chairs, not adding sessions</a:t>
            </a:r>
            <a:endParaRPr lang="en-US" sz="3400" dirty="0"/>
          </a:p>
        </p:txBody>
      </p:sp>
      <p:sp>
        <p:nvSpPr>
          <p:cNvPr id="5" name="Text 3"/>
          <p:cNvSpPr txBox="1"/>
          <p:nvPr/>
        </p:nvSpPr>
        <p:spPr>
          <a:xfrm>
            <a:off x="548640" y="1874520"/>
            <a:ext cx="4937760" cy="3291840"/>
          </a:xfrm>
          <a:prstGeom prst="rect">
            <a:avLst/>
          </a:prstGeom>
          <a:noFill/>
          <a:ln/>
        </p:spPr>
        <p:txBody>
          <a:bodyPr wrap="square" lIns="0" tIns="0" rIns="0" bIns="0" rtlCol="0" anchor="t"/>
          <a:lstStyle/>
          <a:p>
            <a:pPr indent="0" marL="0">
              <a:spcAft>
                <a:spcPts val="800"/>
              </a:spcAft>
              <a:buNone/>
            </a:pPr>
            <a:r>
              <a:rPr lang="en-US" sz="1600" dirty="0">
                <a:solidFill>
                  <a:srgbClr val="1C1917"/>
                </a:solidFill>
                <a:latin typeface="Calibri" pitchFamily="34" charset="0"/>
                <a:ea typeface="Calibri" pitchFamily="34" charset="-122"/>
                <a:cs typeface="Calibri" pitchFamily="34" charset="-120"/>
              </a:rPr>
              <a:t>Every night at 9 PM an integer programme picks tomorrow's chairs:</a:t>
            </a:r>
            <a:endParaRPr lang="en-US" sz="1600" dirty="0"/>
          </a:p>
          <a:p>
            <a:pPr marL="342900" indent="-342900">
              <a:spcAft>
                <a:spcPts val="800"/>
              </a:spcAft>
              <a:buSzPct val="100000"/>
              <a:buChar char="•"/>
            </a:pPr>
            <a:r>
              <a:rPr lang="en-US" sz="1600" dirty="0">
                <a:solidFill>
                  <a:srgbClr val="1C1917"/>
                </a:solidFill>
                <a:latin typeface="Calibri" pitchFamily="34" charset="0"/>
                <a:ea typeface="Calibri" pitchFamily="34" charset="-122"/>
                <a:cs typeface="Calibri" pitchFamily="34" charset="-120"/>
              </a:rPr>
              <a:t>Maximise danger-hours avoided (K ≥ 6, weighted up at 6.5 and 7.0)</a:t>
            </a:r>
            <a:endParaRPr lang="en-US" sz="1600" dirty="0"/>
          </a:p>
          <a:p>
            <a:pPr marL="342900" indent="-342900">
              <a:spcAft>
                <a:spcPts val="800"/>
              </a:spcAft>
              <a:buSzPct val="100000"/>
              <a:buChar char="•"/>
            </a:pPr>
            <a:r>
              <a:rPr lang="en-US" sz="1600" dirty="0">
                <a:solidFill>
                  <a:srgbClr val="1C1917"/>
                </a:solidFill>
                <a:latin typeface="Calibri" pitchFamily="34" charset="0"/>
                <a:ea typeface="Calibri" pitchFamily="34" charset="-122"/>
                <a:cs typeface="Calibri" pitchFamily="34" charset="-120"/>
              </a:rPr>
              <a:t>Same chairs, same sessions per patient, safe minimum and maximum gaps</a:t>
            </a:r>
            <a:endParaRPr lang="en-US" sz="1600" dirty="0"/>
          </a:p>
          <a:p>
            <a:pPr marL="342900" indent="-342900">
              <a:spcAft>
                <a:spcPts val="800"/>
              </a:spcAft>
              <a:buSzPct val="100000"/>
              <a:buChar char="•"/>
            </a:pPr>
            <a:r>
              <a:rPr lang="en-US" sz="1600" dirty="0">
                <a:solidFill>
                  <a:srgbClr val="1C1917"/>
                </a:solidFill>
                <a:latin typeface="Calibri" pitchFamily="34" charset="0"/>
                <a:ea typeface="Calibri" pitchFamily="34" charset="-122"/>
                <a:cs typeface="Calibri" pitchFamily="34" charset="-120"/>
              </a:rPr>
              <a:t>Looks at both upcoming gaps: moving a session earlier makes the next gap longer</a:t>
            </a:r>
            <a:endParaRPr lang="en-US" sz="1600" dirty="0"/>
          </a:p>
          <a:p>
            <a:pPr marL="342900" indent="-342900">
              <a:spcAft>
                <a:spcPts val="800"/>
              </a:spcAft>
              <a:buSzPct val="100000"/>
              <a:buChar char="•"/>
            </a:pPr>
            <a:r>
              <a:rPr lang="en-US" sz="1600" dirty="0">
                <a:solidFill>
                  <a:srgbClr val="1C1917"/>
                </a:solidFill>
                <a:latin typeface="Calibri" pitchFamily="34" charset="0"/>
                <a:ea typeface="Calibri" pitchFamily="34" charset="-122"/>
                <a:cs typeface="Calibri" pitchFamily="34" charset="-120"/>
              </a:rPr>
              <a:t>Riskiest patients get the earliest shift</a:t>
            </a:r>
            <a:endParaRPr lang="en-US" sz="1600" dirty="0"/>
          </a:p>
        </p:txBody>
      </p:sp>
      <p:graphicFrame>
        <p:nvGraphicFramePr>
          <p:cNvPr id="6" name="Chart 0" descr=""/>
          <p:cNvGraphicFramePr/>
          <p:nvPr/>
        </p:nvGraphicFramePr>
        <p:xfrm>
          <a:off x="5760720" y="1828800"/>
          <a:ext cx="589788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760720" y="5806440"/>
            <a:ext cx="5897880" cy="502920"/>
          </a:xfrm>
          <a:prstGeom prst="rect">
            <a:avLst/>
          </a:prstGeom>
          <a:noFill/>
          <a:ln/>
        </p:spPr>
        <p:txBody>
          <a:bodyPr wrap="square" lIns="0" tIns="0" rIns="0" bIns="0" rtlCol="0" anchor="ctr"/>
          <a:lstStyle/>
          <a:p>
            <a:pPr indent="0" marL="0">
              <a:buNone/>
            </a:pPr>
            <a:r>
              <a:rPr lang="en-US" sz="1200" dirty="0">
                <a:solidFill>
                  <a:srgbClr val="57534E"/>
                </a:solidFill>
                <a:latin typeface="Calibri" pitchFamily="34" charset="0"/>
                <a:ea typeface="Calibri" pitchFamily="34" charset="-122"/>
                <a:cs typeface="Calibri" pitchFamily="34" charset="-120"/>
              </a:rPr>
              <a:t>6 replicate units × 8 weeks, identical patients, meals, illnesses and session counts. Fewer arrivals with K ≥ 6 in all 6 units.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760220"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1760220"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BACK TO LAKSHMI</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An AI that knows when NOT to move a patient</a:t>
            </a:r>
            <a:endParaRPr lang="en-US" sz="3400" dirty="0"/>
          </a:p>
        </p:txBody>
      </p:sp>
      <p:sp>
        <p:nvSpPr>
          <p:cNvPr id="5" name="Shape 3"/>
          <p:cNvSpPr/>
          <p:nvPr/>
        </p:nvSpPr>
        <p:spPr>
          <a:xfrm>
            <a:off x="548640" y="1920240"/>
            <a:ext cx="5349240" cy="2331720"/>
          </a:xfrm>
          <a:prstGeom prst="roundRect">
            <a:avLst>
              <a:gd name="adj" fmla="val 4706"/>
            </a:avLst>
          </a:prstGeom>
          <a:solidFill>
            <a:srgbClr val="F0FDFA"/>
          </a:solidFill>
          <a:ln w="12700">
            <a:solidFill>
              <a:srgbClr val="F0FDFA"/>
            </a:solidFill>
            <a:prstDash val="solid"/>
          </a:ln>
        </p:spPr>
      </p:sp>
      <p:sp>
        <p:nvSpPr>
          <p:cNvPr id="6" name="Text 4"/>
          <p:cNvSpPr txBox="1"/>
          <p:nvPr/>
        </p:nvSpPr>
        <p:spPr>
          <a:xfrm>
            <a:off x="822960" y="2103120"/>
            <a:ext cx="4846320" cy="457200"/>
          </a:xfrm>
          <a:prstGeom prst="rect">
            <a:avLst/>
          </a:prstGeom>
          <a:noFill/>
          <a:ln/>
        </p:spPr>
        <p:txBody>
          <a:bodyPr wrap="square" lIns="0" tIns="0" rIns="0" bIns="0" rtlCol="0" anchor="ctr"/>
          <a:lstStyle/>
          <a:p>
            <a:pPr indent="0" marL="0">
              <a:buNone/>
            </a:pPr>
            <a:r>
              <a:rPr lang="en-US" sz="2200" b="1" dirty="0">
                <a:solidFill>
                  <a:srgbClr val="0F766E"/>
                </a:solidFill>
                <a:latin typeface="Calibri" pitchFamily="34" charset="0"/>
                <a:ea typeface="Calibri" pitchFamily="34" charset="-122"/>
                <a:cs typeface="Calibri" pitchFamily="34" charset="-120"/>
              </a:rPr>
              <a:t>Keep Thursday</a:t>
            </a:r>
            <a:endParaRPr lang="en-US" sz="2200" dirty="0"/>
          </a:p>
        </p:txBody>
      </p:sp>
      <p:sp>
        <p:nvSpPr>
          <p:cNvPr id="7" name="Text 5"/>
          <p:cNvSpPr txBox="1"/>
          <p:nvPr/>
        </p:nvSpPr>
        <p:spPr>
          <a:xfrm>
            <a:off x="822960" y="2606040"/>
            <a:ext cx="1737360" cy="1188720"/>
          </a:xfrm>
          <a:prstGeom prst="rect">
            <a:avLst/>
          </a:prstGeom>
          <a:noFill/>
          <a:ln/>
        </p:spPr>
        <p:txBody>
          <a:bodyPr wrap="square" lIns="0" tIns="0" rIns="0" bIns="0" rtlCol="0" anchor="ctr"/>
          <a:lstStyle/>
          <a:p>
            <a:pPr indent="0" marL="0">
              <a:buNone/>
            </a:pPr>
            <a:r>
              <a:rPr lang="en-US" sz="6400" b="1" dirty="0">
                <a:solidFill>
                  <a:srgbClr val="0F766E"/>
                </a:solidFill>
                <a:latin typeface="Cambria" pitchFamily="34" charset="0"/>
                <a:ea typeface="Cambria" pitchFamily="34" charset="-122"/>
                <a:cs typeface="Cambria" pitchFamily="34" charset="-120"/>
              </a:rPr>
              <a:t>48</a:t>
            </a:r>
            <a:endParaRPr lang="en-US" sz="6400" dirty="0"/>
          </a:p>
        </p:txBody>
      </p:sp>
      <p:sp>
        <p:nvSpPr>
          <p:cNvPr id="8" name="Text 6"/>
          <p:cNvSpPr txBox="1"/>
          <p:nvPr/>
        </p:nvSpPr>
        <p:spPr>
          <a:xfrm>
            <a:off x="2606040" y="2697480"/>
            <a:ext cx="3017520" cy="1005840"/>
          </a:xfrm>
          <a:prstGeom prst="rect">
            <a:avLst/>
          </a:prstGeom>
          <a:noFill/>
          <a:ln/>
        </p:spPr>
        <p:txBody>
          <a:bodyPr wrap="square" lIns="0" tIns="0" rIns="0" bIns="0" rtlCol="0" anchor="ctr"/>
          <a:lstStyle/>
          <a:p>
            <a:pPr indent="0" marL="0">
              <a:buNone/>
            </a:pPr>
            <a:r>
              <a:rPr lang="en-US" sz="1600" dirty="0">
                <a:solidFill>
                  <a:srgbClr val="1C1917"/>
                </a:solidFill>
                <a:latin typeface="Calibri" pitchFamily="34" charset="0"/>
                <a:ea typeface="Calibri" pitchFamily="34" charset="-122"/>
                <a:cs typeface="Calibri" pitchFamily="34" charset="-120"/>
              </a:rPr>
              <a:t>expected danger-hours over her next two gaps</a:t>
            </a:r>
            <a:endParaRPr lang="en-US" sz="1600" dirty="0"/>
          </a:p>
        </p:txBody>
      </p:sp>
      <p:sp>
        <p:nvSpPr>
          <p:cNvPr id="9" name="Shape 7"/>
          <p:cNvSpPr/>
          <p:nvPr/>
        </p:nvSpPr>
        <p:spPr>
          <a:xfrm>
            <a:off x="6309360" y="1920240"/>
            <a:ext cx="5349240" cy="2331720"/>
          </a:xfrm>
          <a:prstGeom prst="roundRect">
            <a:avLst>
              <a:gd name="adj" fmla="val 4706"/>
            </a:avLst>
          </a:prstGeom>
          <a:solidFill>
            <a:srgbClr val="FEF2F2"/>
          </a:solidFill>
          <a:ln w="12700">
            <a:solidFill>
              <a:srgbClr val="FEF2F2"/>
            </a:solidFill>
            <a:prstDash val="solid"/>
          </a:ln>
        </p:spPr>
      </p:sp>
      <p:sp>
        <p:nvSpPr>
          <p:cNvPr id="10" name="Text 8"/>
          <p:cNvSpPr txBox="1"/>
          <p:nvPr/>
        </p:nvSpPr>
        <p:spPr>
          <a:xfrm>
            <a:off x="6583680" y="2103120"/>
            <a:ext cx="4846320" cy="457200"/>
          </a:xfrm>
          <a:prstGeom prst="rect">
            <a:avLst/>
          </a:prstGeom>
          <a:noFill/>
          <a:ln/>
        </p:spPr>
        <p:txBody>
          <a:bodyPr wrap="square" lIns="0" tIns="0" rIns="0" bIns="0" rtlCol="0" anchor="ctr"/>
          <a:lstStyle/>
          <a:p>
            <a:pPr indent="0" marL="0">
              <a:buNone/>
            </a:pPr>
            <a:r>
              <a:rPr lang="en-US" sz="2200" b="1" dirty="0">
                <a:solidFill>
                  <a:srgbClr val="DC2626"/>
                </a:solidFill>
                <a:latin typeface="Calibri" pitchFamily="34" charset="0"/>
                <a:ea typeface="Calibri" pitchFamily="34" charset="-122"/>
                <a:cs typeface="Calibri" pitchFamily="34" charset="-120"/>
              </a:rPr>
              <a:t>Move to Wednesday</a:t>
            </a:r>
            <a:endParaRPr lang="en-US" sz="2200" dirty="0"/>
          </a:p>
        </p:txBody>
      </p:sp>
      <p:sp>
        <p:nvSpPr>
          <p:cNvPr id="11" name="Text 9"/>
          <p:cNvSpPr txBox="1"/>
          <p:nvPr/>
        </p:nvSpPr>
        <p:spPr>
          <a:xfrm>
            <a:off x="6583680" y="2606040"/>
            <a:ext cx="1737360" cy="1188720"/>
          </a:xfrm>
          <a:prstGeom prst="rect">
            <a:avLst/>
          </a:prstGeom>
          <a:noFill/>
          <a:ln/>
        </p:spPr>
        <p:txBody>
          <a:bodyPr wrap="square" lIns="0" tIns="0" rIns="0" bIns="0" rtlCol="0" anchor="ctr"/>
          <a:lstStyle/>
          <a:p>
            <a:pPr indent="0" marL="0">
              <a:buNone/>
            </a:pPr>
            <a:r>
              <a:rPr lang="en-US" sz="6400" b="1" dirty="0">
                <a:solidFill>
                  <a:srgbClr val="DC2626"/>
                </a:solidFill>
                <a:latin typeface="Cambria" pitchFamily="34" charset="0"/>
                <a:ea typeface="Cambria" pitchFamily="34" charset="-122"/>
                <a:cs typeface="Cambria" pitchFamily="34" charset="-120"/>
              </a:rPr>
              <a:t>55</a:t>
            </a:r>
            <a:endParaRPr lang="en-US" sz="6400" dirty="0"/>
          </a:p>
        </p:txBody>
      </p:sp>
      <p:sp>
        <p:nvSpPr>
          <p:cNvPr id="12" name="Text 10"/>
          <p:cNvSpPr txBox="1"/>
          <p:nvPr/>
        </p:nvSpPr>
        <p:spPr>
          <a:xfrm>
            <a:off x="8366760" y="2697480"/>
            <a:ext cx="3108960" cy="1005840"/>
          </a:xfrm>
          <a:prstGeom prst="rect">
            <a:avLst/>
          </a:prstGeom>
          <a:noFill/>
          <a:ln/>
        </p:spPr>
        <p:txBody>
          <a:bodyPr wrap="square" lIns="0" tIns="0" rIns="0" bIns="0" rtlCol="0" anchor="ctr"/>
          <a:lstStyle/>
          <a:p>
            <a:pPr indent="0" marL="0">
              <a:buNone/>
            </a:pPr>
            <a:r>
              <a:rPr lang="en-US" sz="1600" dirty="0">
                <a:solidFill>
                  <a:srgbClr val="1C1917"/>
                </a:solidFill>
                <a:latin typeface="Calibri" pitchFamily="34" charset="0"/>
                <a:ea typeface="Calibri" pitchFamily="34" charset="-122"/>
                <a:cs typeface="Calibri" pitchFamily="34" charset="-120"/>
              </a:rPr>
              <a:t>danger-hours: her next gap would stretch to 5 days, until Monday</a:t>
            </a:r>
            <a:endParaRPr lang="en-US" sz="1600" dirty="0"/>
          </a:p>
        </p:txBody>
      </p:sp>
      <p:sp>
        <p:nvSpPr>
          <p:cNvPr id="13" name="Text 11"/>
          <p:cNvSpPr txBox="1"/>
          <p:nvPr/>
        </p:nvSpPr>
        <p:spPr>
          <a:xfrm>
            <a:off x="548640" y="4617720"/>
            <a:ext cx="11064240" cy="1188720"/>
          </a:xfrm>
          <a:prstGeom prst="rect">
            <a:avLst/>
          </a:prstGeom>
          <a:noFill/>
          <a:ln/>
        </p:spPr>
        <p:txBody>
          <a:bodyPr wrap="square" lIns="0" tIns="0" rIns="0" bIns="0" rtlCol="0" anchor="t"/>
          <a:lstStyle/>
          <a:p>
            <a:pPr indent="0" marL="0">
              <a:buNone/>
            </a:pPr>
            <a:r>
              <a:rPr lang="en-US" sz="1600" dirty="0">
                <a:solidFill>
                  <a:srgbClr val="1C1917"/>
                </a:solidFill>
                <a:latin typeface="Calibri" pitchFamily="34" charset="0"/>
                <a:ea typeface="Calibri" pitchFamily="34" charset="-122"/>
                <a:cs typeface="Calibri" pitchFamily="34" charset="-120"/>
              </a:rPr>
              <a:t>So Antaral keeps her on Thursday, uses Wednesday's spare chairs for two patients it can actually help, and flags Lakshmi under </a:t>
            </a:r>
            <a:pPr indent="0" marL="0">
              <a:buNone/>
            </a:pPr>
            <a:r>
              <a:rPr lang="en-US" sz="1600" b="1" dirty="0">
                <a:solidFill>
                  <a:srgbClr val="1C1917"/>
                </a:solidFill>
                <a:latin typeface="Calibri" pitchFamily="34" charset="0"/>
                <a:ea typeface="Calibri" pitchFamily="34" charset="-122"/>
                <a:cs typeface="Calibri" pitchFamily="34" charset="-120"/>
              </a:rPr>
              <a:t>"high risk, schedule kept: consider other action"</a:t>
            </a:r>
            <a:pPr indent="0" marL="0">
              <a:buNone/>
            </a:pPr>
            <a:r>
              <a:rPr lang="en-US" sz="1600" dirty="0">
                <a:solidFill>
                  <a:srgbClr val="1C1917"/>
                </a:solidFill>
                <a:latin typeface="Calibri" pitchFamily="34" charset="0"/>
                <a:ea typeface="Calibri" pitchFamily="34" charset="-122"/>
                <a:cs typeface="Calibri" pitchFamily="34" charset="-120"/>
              </a:rPr>
              <a:t>. In the what-if panel the doctor compares a potassium binder or a dietitian call about the coconut water.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4"/>
        </a:solidFill>
      </p:bgPr>
    </p:bg>
    <p:spTree>
      <p:nvGrpSpPr>
        <p:cNvPr id="1" name=""/>
        <p:cNvGrpSpPr/>
        <p:nvPr/>
      </p:nvGrpSpPr>
      <p:grpSpPr>
        <a:xfrm>
          <a:off x="0" y="0"/>
          <a:ext cx="0" cy="0"/>
          <a:chOff x="0" y="0"/>
          <a:chExt cx="0" cy="0"/>
        </a:xfrm>
      </p:grpSpPr>
      <p:sp>
        <p:nvSpPr>
          <p:cNvPr id="2" name="Shape 0"/>
          <p:cNvSpPr/>
          <p:nvPr/>
        </p:nvSpPr>
        <p:spPr>
          <a:xfrm>
            <a:off x="548640" y="411480"/>
            <a:ext cx="2368296"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2368296"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THE DOCTOR'S DASHBOARD</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How a doctor works with the virtual patient</a:t>
            </a:r>
            <a:endParaRPr lang="en-US" sz="3400" dirty="0"/>
          </a:p>
        </p:txBody>
      </p:sp>
      <p:pic>
        <p:nvPicPr>
          <p:cNvPr id="5" name="Image 0" descr="/home/claude/antaral/docs/deck_assets/unit_tonight_crop.png">    </p:cNvPr>
          <p:cNvPicPr>
            <a:picLocks noChangeAspect="1"/>
          </p:cNvPicPr>
          <p:nvPr/>
        </p:nvPicPr>
        <p:blipFill>
          <a:blip r:embed="rId1"/>
          <a:stretch>
            <a:fillRect/>
          </a:stretch>
        </p:blipFill>
        <p:spPr>
          <a:xfrm>
            <a:off x="548640" y="1783080"/>
            <a:ext cx="5440680" cy="3913632"/>
          </a:xfrm>
          <a:prstGeom prst="rect">
            <a:avLst/>
          </a:prstGeom>
        </p:spPr>
      </p:pic>
      <p:pic>
        <p:nvPicPr>
          <p:cNvPr id="6" name="Image 1" descr="/home/claude/antaral/docs/deck_assets/patient_twin_crop.png">    </p:cNvPr>
          <p:cNvPicPr>
            <a:picLocks noChangeAspect="1"/>
          </p:cNvPicPr>
          <p:nvPr/>
        </p:nvPicPr>
        <p:blipFill>
          <a:blip r:embed="rId2"/>
          <a:stretch>
            <a:fillRect/>
          </a:stretch>
        </p:blipFill>
        <p:spPr>
          <a:xfrm>
            <a:off x="6217920" y="1783080"/>
            <a:ext cx="5440680" cy="3913632"/>
          </a:xfrm>
          <a:prstGeom prst="rect">
            <a:avLst/>
          </a:prstGeom>
        </p:spPr>
      </p:pic>
      <p:sp>
        <p:nvSpPr>
          <p:cNvPr id="7" name="Text 3"/>
          <p:cNvSpPr txBox="1"/>
          <p:nvPr/>
        </p:nvSpPr>
        <p:spPr>
          <a:xfrm>
            <a:off x="548640" y="5806440"/>
            <a:ext cx="5440680" cy="457200"/>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Unit tonight: suggestions to approve, tomorrow's chair board, risk for every patient</a:t>
            </a:r>
            <a:endParaRPr lang="en-US" sz="1250" dirty="0"/>
          </a:p>
        </p:txBody>
      </p:sp>
      <p:sp>
        <p:nvSpPr>
          <p:cNvPr id="8" name="Text 4"/>
          <p:cNvSpPr txBox="1"/>
          <p:nvPr/>
        </p:nvSpPr>
        <p:spPr>
          <a:xfrm>
            <a:off x="6217920" y="5806440"/>
            <a:ext cx="5440680" cy="457200"/>
          </a:xfrm>
          <a:prstGeom prst="rect">
            <a:avLst/>
          </a:prstGeom>
          <a:noFill/>
          <a:ln/>
        </p:spPr>
        <p:txBody>
          <a:bodyPr wrap="square" lIns="0" tIns="0" rIns="0" bIns="0" rtlCol="0" anchor="ctr"/>
          <a:lstStyle/>
          <a:p>
            <a:pPr indent="0" marL="0">
              <a:buNone/>
            </a:pPr>
            <a:r>
              <a:rPr lang="en-US" sz="1250" dirty="0">
                <a:solidFill>
                  <a:srgbClr val="57534E"/>
                </a:solidFill>
                <a:latin typeface="Calibri" pitchFamily="34" charset="0"/>
                <a:ea typeface="Calibri" pitchFamily="34" charset="-122"/>
                <a:cs typeface="Calibri" pitchFamily="34" charset="-120"/>
              </a:rPr>
              <a:t>Patient twin: trajectory, forecast, ECG vs baseline, reasons, what-if panel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2715768" cy="310896"/>
          </a:xfrm>
          <a:prstGeom prst="roundRect">
            <a:avLst>
              <a:gd name="adj" fmla="val 50000"/>
            </a:avLst>
          </a:prstGeom>
          <a:solidFill>
            <a:srgbClr val="F0FDFA"/>
          </a:solidFill>
          <a:ln w="12700">
            <a:solidFill>
              <a:srgbClr val="F0FDFA"/>
            </a:solidFill>
            <a:prstDash val="solid"/>
          </a:ln>
        </p:spPr>
      </p:sp>
      <p:sp>
        <p:nvSpPr>
          <p:cNvPr id="3" name="Text 1"/>
          <p:cNvSpPr txBox="1"/>
          <p:nvPr/>
        </p:nvSpPr>
        <p:spPr>
          <a:xfrm>
            <a:off x="548640" y="411480"/>
            <a:ext cx="2715768" cy="310896"/>
          </a:xfrm>
          <a:prstGeom prst="rect">
            <a:avLst/>
          </a:prstGeom>
          <a:noFill/>
          <a:ln/>
        </p:spPr>
        <p:txBody>
          <a:bodyPr wrap="square" lIns="0" tIns="0" rIns="0" bIns="0" rtlCol="0" anchor="ctr"/>
          <a:lstStyle/>
          <a:p>
            <a:pPr algn="ctr" indent="0" marL="0">
              <a:buNone/>
            </a:pPr>
            <a:r>
              <a:rPr lang="en-US" sz="1050" b="1" spc="150" kern="0" dirty="0">
                <a:solidFill>
                  <a:srgbClr val="0F766E"/>
                </a:solidFill>
                <a:latin typeface="Calibri" pitchFamily="34" charset="0"/>
                <a:ea typeface="Calibri" pitchFamily="34" charset="-122"/>
                <a:cs typeface="Calibri" pitchFamily="34" charset="-120"/>
              </a:rPr>
              <a:t>HONEST LIMITS · NEXT STEPS</a:t>
            </a:r>
            <a:endParaRPr lang="en-US" sz="1050" dirty="0"/>
          </a:p>
        </p:txBody>
      </p:sp>
      <p:sp>
        <p:nvSpPr>
          <p:cNvPr id="4" name="Text 2"/>
          <p:cNvSpPr txBox="1"/>
          <p:nvPr/>
        </p:nvSpPr>
        <p:spPr>
          <a:xfrm>
            <a:off x="548640" y="868680"/>
            <a:ext cx="11091672" cy="777240"/>
          </a:xfrm>
          <a:prstGeom prst="rect">
            <a:avLst/>
          </a:prstGeom>
          <a:noFill/>
          <a:ln/>
        </p:spPr>
        <p:txBody>
          <a:bodyPr wrap="square" lIns="0" tIns="0" rIns="0" bIns="0" rtlCol="0" anchor="ctr"/>
          <a:lstStyle/>
          <a:p>
            <a:pPr indent="0" marL="0">
              <a:buNone/>
            </a:pPr>
            <a:r>
              <a:rPr lang="en-US" sz="3400" b="1" dirty="0">
                <a:solidFill>
                  <a:srgbClr val="1C1917"/>
                </a:solidFill>
                <a:latin typeface="Cambria" pitchFamily="34" charset="0"/>
                <a:ea typeface="Cambria" pitchFamily="34" charset="-122"/>
                <a:cs typeface="Cambria" pitchFamily="34" charset="-120"/>
              </a:rPr>
              <a:t>What the simulation taught us, and what comes next</a:t>
            </a:r>
            <a:endParaRPr lang="en-US" sz="3400" dirty="0"/>
          </a:p>
        </p:txBody>
      </p:sp>
      <p:sp>
        <p:nvSpPr>
          <p:cNvPr id="5" name="Shape 3"/>
          <p:cNvSpPr/>
          <p:nvPr/>
        </p:nvSpPr>
        <p:spPr>
          <a:xfrm>
            <a:off x="548640" y="1874520"/>
            <a:ext cx="5394960" cy="4206240"/>
          </a:xfrm>
          <a:prstGeom prst="roundRect">
            <a:avLst>
              <a:gd name="adj" fmla="val 2609"/>
            </a:avLst>
          </a:prstGeom>
          <a:solidFill>
            <a:srgbClr val="FEF2F2"/>
          </a:solidFill>
          <a:ln w="12700">
            <a:solidFill>
              <a:srgbClr val="FEF2F2"/>
            </a:solidFill>
            <a:prstDash val="solid"/>
          </a:ln>
        </p:spPr>
      </p:sp>
      <p:sp>
        <p:nvSpPr>
          <p:cNvPr id="6" name="Text 4"/>
          <p:cNvSpPr txBox="1"/>
          <p:nvPr/>
        </p:nvSpPr>
        <p:spPr>
          <a:xfrm>
            <a:off x="822960" y="2057400"/>
            <a:ext cx="4937760" cy="457200"/>
          </a:xfrm>
          <a:prstGeom prst="rect">
            <a:avLst/>
          </a:prstGeom>
          <a:noFill/>
          <a:ln/>
        </p:spPr>
        <p:txBody>
          <a:bodyPr wrap="square" lIns="0" tIns="0" rIns="0" bIns="0" rtlCol="0" anchor="ctr"/>
          <a:lstStyle/>
          <a:p>
            <a:pPr indent="0" marL="0">
              <a:buNone/>
            </a:pPr>
            <a:r>
              <a:rPr lang="en-US" sz="2000" b="1" dirty="0">
                <a:solidFill>
                  <a:srgbClr val="DC2626"/>
                </a:solidFill>
                <a:latin typeface="Cambria" pitchFamily="34" charset="0"/>
                <a:ea typeface="Cambria" pitchFamily="34" charset="-122"/>
                <a:cs typeface="Cambria" pitchFamily="34" charset="-120"/>
              </a:rPr>
              <a:t>Limits we found</a:t>
            </a:r>
            <a:endParaRPr lang="en-US" sz="2000" dirty="0"/>
          </a:p>
        </p:txBody>
      </p:sp>
      <p:sp>
        <p:nvSpPr>
          <p:cNvPr id="7" name="Text 5"/>
          <p:cNvSpPr txBox="1"/>
          <p:nvPr/>
        </p:nvSpPr>
        <p:spPr>
          <a:xfrm>
            <a:off x="822960" y="2651760"/>
            <a:ext cx="4937760" cy="329184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C1917"/>
                </a:solidFill>
                <a:latin typeface="Calibri" pitchFamily="34" charset="0"/>
                <a:ea typeface="Calibri" pitchFamily="34" charset="-122"/>
                <a:cs typeface="Calibri" pitchFamily="34" charset="-120"/>
              </a:rPr>
              <a:t>Re-timing does not cut hours above 7.0: those patients need more dialysis, not different timing</a:t>
            </a:r>
            <a:endParaRPr lang="en-US" sz="1450" dirty="0"/>
          </a:p>
          <a:p>
            <a:pPr marL="342900" indent="-342900">
              <a:spcAft>
                <a:spcPts val="800"/>
              </a:spcAft>
              <a:buSzPct val="100000"/>
              <a:buChar char="•"/>
            </a:pPr>
            <a:r>
              <a:rPr lang="en-US" sz="1450" dirty="0">
                <a:solidFill>
                  <a:srgbClr val="1C1917"/>
                </a:solidFill>
                <a:latin typeface="Calibri" pitchFamily="34" charset="0"/>
                <a:ea typeface="Calibri" pitchFamily="34" charset="-122"/>
                <a:cs typeface="Calibri" pitchFamily="34" charset="-120"/>
              </a:rPr>
              <a:t>Too many schedule changes for a real unit today; the stability setting needs tuning with clinicians</a:t>
            </a:r>
            <a:endParaRPr lang="en-US" sz="1450" dirty="0"/>
          </a:p>
          <a:p>
            <a:pPr marL="342900" indent="-342900">
              <a:spcAft>
                <a:spcPts val="800"/>
              </a:spcAft>
              <a:buSzPct val="100000"/>
              <a:buChar char="•"/>
            </a:pPr>
            <a:r>
              <a:rPr lang="en-US" sz="1450" dirty="0">
                <a:solidFill>
                  <a:srgbClr val="1C1917"/>
                </a:solidFill>
                <a:latin typeface="Calibri" pitchFamily="34" charset="0"/>
                <a:ea typeface="Calibri" pitchFamily="34" charset="-122"/>
                <a:cs typeface="Calibri" pitchFamily="34" charset="-120"/>
              </a:rPr>
              <a:t>All results are on synthetic data, not clinical validation</a:t>
            </a:r>
            <a:endParaRPr lang="en-US" sz="1450" dirty="0"/>
          </a:p>
          <a:p>
            <a:pPr marL="342900" indent="-342900">
              <a:spcAft>
                <a:spcPts val="800"/>
              </a:spcAft>
              <a:buSzPct val="100000"/>
              <a:buChar char="•"/>
            </a:pPr>
            <a:r>
              <a:rPr lang="en-US" sz="1450" dirty="0">
                <a:solidFill>
                  <a:srgbClr val="1C1917"/>
                </a:solidFill>
                <a:latin typeface="Calibri" pitchFamily="34" charset="0"/>
                <a:ea typeface="Calibri" pitchFamily="34" charset="-122"/>
                <a:cs typeface="Calibri" pitchFamily="34" charset="-120"/>
              </a:rPr>
              <a:t>A tuned ML model without the twin comes close on accuracy; the twin's edge is what-if reasoning</a:t>
            </a:r>
            <a:endParaRPr lang="en-US" sz="1450" dirty="0"/>
          </a:p>
        </p:txBody>
      </p:sp>
      <p:sp>
        <p:nvSpPr>
          <p:cNvPr id="8" name="Shape 6"/>
          <p:cNvSpPr/>
          <p:nvPr/>
        </p:nvSpPr>
        <p:spPr>
          <a:xfrm>
            <a:off x="6263640" y="1874520"/>
            <a:ext cx="5394960" cy="4206240"/>
          </a:xfrm>
          <a:prstGeom prst="roundRect">
            <a:avLst>
              <a:gd name="adj" fmla="val 2609"/>
            </a:avLst>
          </a:prstGeom>
          <a:solidFill>
            <a:srgbClr val="F0FDFA"/>
          </a:solidFill>
          <a:ln w="12700">
            <a:solidFill>
              <a:srgbClr val="F0FDFA"/>
            </a:solidFill>
            <a:prstDash val="solid"/>
          </a:ln>
        </p:spPr>
      </p:sp>
      <p:sp>
        <p:nvSpPr>
          <p:cNvPr id="9" name="Text 7"/>
          <p:cNvSpPr txBox="1"/>
          <p:nvPr/>
        </p:nvSpPr>
        <p:spPr>
          <a:xfrm>
            <a:off x="6537960" y="2057400"/>
            <a:ext cx="4937760" cy="457200"/>
          </a:xfrm>
          <a:prstGeom prst="rect">
            <a:avLst/>
          </a:prstGeom>
          <a:noFill/>
          <a:ln/>
        </p:spPr>
        <p:txBody>
          <a:bodyPr wrap="square" lIns="0" tIns="0" rIns="0" bIns="0" rtlCol="0" anchor="ctr"/>
          <a:lstStyle/>
          <a:p>
            <a:pPr indent="0" marL="0">
              <a:buNone/>
            </a:pPr>
            <a:r>
              <a:rPr lang="en-US" sz="2000" b="1" dirty="0">
                <a:solidFill>
                  <a:srgbClr val="0F766E"/>
                </a:solidFill>
                <a:latin typeface="Cambria" pitchFamily="34" charset="0"/>
                <a:ea typeface="Cambria" pitchFamily="34" charset="-122"/>
                <a:cs typeface="Cambria" pitchFamily="34" charset="-120"/>
              </a:rPr>
              <a:t>Next</a:t>
            </a:r>
            <a:endParaRPr lang="en-US" sz="2000" dirty="0"/>
          </a:p>
        </p:txBody>
      </p:sp>
      <p:sp>
        <p:nvSpPr>
          <p:cNvPr id="10" name="Text 8"/>
          <p:cNvSpPr txBox="1"/>
          <p:nvPr/>
        </p:nvSpPr>
        <p:spPr>
          <a:xfrm>
            <a:off x="6537960" y="2651760"/>
            <a:ext cx="4937760" cy="329184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C1917"/>
                </a:solidFill>
                <a:latin typeface="Calibri" pitchFamily="34" charset="0"/>
                <a:ea typeface="Calibri" pitchFamily="34" charset="-122"/>
                <a:cs typeface="Calibri" pitchFamily="34" charset="-120"/>
              </a:rPr>
              <a:t>Validate on MIMIC-IV: dialysis patients with potassium labs and linked ECGs</a:t>
            </a:r>
            <a:endParaRPr lang="en-US" sz="1450" dirty="0"/>
          </a:p>
          <a:p>
            <a:pPr marL="342900" indent="-342900">
              <a:spcAft>
                <a:spcPts val="800"/>
              </a:spcAft>
              <a:buSzPct val="100000"/>
              <a:buChar char="•"/>
            </a:pPr>
            <a:r>
              <a:rPr lang="en-US" sz="1450" dirty="0">
                <a:solidFill>
                  <a:srgbClr val="1C1917"/>
                </a:solidFill>
                <a:latin typeface="Calibri" pitchFamily="34" charset="0"/>
                <a:ea typeface="Calibri" pitchFamily="34" charset="-122"/>
                <a:cs typeface="Calibri" pitchFamily="34" charset="-120"/>
              </a:rPr>
              <a:t>Real smartwatch ECG exports in place of synthetic beats</a:t>
            </a:r>
            <a:endParaRPr lang="en-US" sz="1450" dirty="0"/>
          </a:p>
          <a:p>
            <a:pPr marL="342900" indent="-342900">
              <a:spcAft>
                <a:spcPts val="800"/>
              </a:spcAft>
              <a:buSzPct val="100000"/>
              <a:buChar char="•"/>
            </a:pPr>
            <a:r>
              <a:rPr lang="en-US" sz="1450" dirty="0">
                <a:solidFill>
                  <a:srgbClr val="1C1917"/>
                </a:solidFill>
                <a:latin typeface="Calibri" pitchFamily="34" charset="0"/>
                <a:ea typeface="Calibri" pitchFamily="34" charset="-122"/>
                <a:cs typeface="Calibri" pitchFamily="34" charset="-120"/>
              </a:rPr>
              <a:t>Dose alerts for chronically high patients: extra session or prescription review</a:t>
            </a:r>
            <a:endParaRPr lang="en-US" sz="1450" dirty="0"/>
          </a:p>
          <a:p>
            <a:pPr marL="342900" indent="-342900">
              <a:spcAft>
                <a:spcPts val="800"/>
              </a:spcAft>
              <a:buSzPct val="100000"/>
              <a:buChar char="•"/>
            </a:pPr>
            <a:r>
              <a:rPr lang="en-US" sz="1450" dirty="0">
                <a:solidFill>
                  <a:srgbClr val="1C1917"/>
                </a:solidFill>
                <a:latin typeface="Calibri" pitchFamily="34" charset="0"/>
                <a:ea typeface="Calibri" pitchFamily="34" charset="-122"/>
                <a:cs typeface="Calibri" pitchFamily="34" charset="-120"/>
              </a:rPr>
              <a:t>Pilot with an Indian dialysis unit, DPDP-compliant, clinician approval on every change</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B2E"/>
        </a:solidFill>
      </p:bgPr>
    </p:bg>
    <p:spTree>
      <p:nvGrpSpPr>
        <p:cNvPr id="1" name=""/>
        <p:cNvGrpSpPr/>
        <p:nvPr/>
      </p:nvGrpSpPr>
      <p:grpSpPr>
        <a:xfrm>
          <a:off x="0" y="0"/>
          <a:ext cx="0" cy="0"/>
          <a:chOff x="0" y="0"/>
          <a:chExt cx="0" cy="0"/>
        </a:xfrm>
      </p:grpSpPr>
      <p:pic>
        <p:nvPicPr>
          <p:cNvPr id="2" name="Image 0" descr="/home/claude/antaral/docs/deck_assets/hero_trace.png">    </p:cNvPr>
          <p:cNvPicPr>
            <a:picLocks noChangeAspect="1"/>
          </p:cNvPicPr>
          <p:nvPr/>
        </p:nvPicPr>
        <p:blipFill>
          <a:blip r:embed="rId1">
            <a:alphaModFix amt="45000"/>
          </a:blip>
          <a:stretch>
            <a:fillRect/>
          </a:stretch>
        </p:blipFill>
        <p:spPr>
          <a:xfrm>
            <a:off x="1463040" y="4892040"/>
            <a:ext cx="9692640" cy="1746504"/>
          </a:xfrm>
          <a:prstGeom prst="rect">
            <a:avLst/>
          </a:prstGeom>
        </p:spPr>
      </p:pic>
      <p:sp>
        <p:nvSpPr>
          <p:cNvPr id="3" name="Shape 0"/>
          <p:cNvSpPr/>
          <p:nvPr/>
        </p:nvSpPr>
        <p:spPr>
          <a:xfrm>
            <a:off x="548640" y="822960"/>
            <a:ext cx="640080" cy="640080"/>
          </a:xfrm>
          <a:prstGeom prst="ellipse">
            <a:avLst/>
          </a:prstGeom>
          <a:solidFill>
            <a:srgbClr val="134E4A"/>
          </a:solidFill>
          <a:ln w="15875">
            <a:solidFill>
              <a:srgbClr val="5EEAD4"/>
            </a:solidFill>
            <a:prstDash val="solid"/>
          </a:ln>
        </p:spPr>
      </p:sp>
      <p:sp>
        <p:nvSpPr>
          <p:cNvPr id="4" name="Text 1"/>
          <p:cNvSpPr txBox="1"/>
          <p:nvPr/>
        </p:nvSpPr>
        <p:spPr>
          <a:xfrm>
            <a:off x="548640" y="822960"/>
            <a:ext cx="640080" cy="640080"/>
          </a:xfrm>
          <a:prstGeom prst="rect">
            <a:avLst/>
          </a:prstGeom>
          <a:noFill/>
          <a:ln/>
        </p:spPr>
        <p:txBody>
          <a:bodyPr wrap="square" lIns="0" tIns="0" rIns="0" bIns="0" rtlCol="0" anchor="ctr"/>
          <a:lstStyle/>
          <a:p>
            <a:pPr algn="ctr" indent="0" marL="0">
              <a:buNone/>
            </a:pPr>
            <a:r>
              <a:rPr lang="en-US" sz="1820" b="1" dirty="0">
                <a:solidFill>
                  <a:srgbClr val="5EEAD4"/>
                </a:solidFill>
                <a:latin typeface="Cambria" pitchFamily="34" charset="0"/>
                <a:ea typeface="Cambria" pitchFamily="34" charset="-122"/>
                <a:cs typeface="Cambria" pitchFamily="34" charset="-120"/>
              </a:rPr>
              <a:t>K</a:t>
            </a:r>
            <a:pPr algn="ctr" indent="0" marL="0">
              <a:buNone/>
            </a:pPr>
            <a:r>
              <a:rPr lang="en-US" sz="1820" b="1" baseline="30000" dirty="0">
                <a:solidFill>
                  <a:srgbClr val="5EEAD4"/>
                </a:solidFill>
                <a:latin typeface="Cambria" pitchFamily="34" charset="0"/>
                <a:ea typeface="Cambria" pitchFamily="34" charset="-122"/>
                <a:cs typeface="Cambria" pitchFamily="34" charset="-120"/>
              </a:rPr>
              <a:t>+</a:t>
            </a:r>
            <a:endParaRPr lang="en-US" sz="1820" dirty="0"/>
          </a:p>
        </p:txBody>
      </p:sp>
      <p:sp>
        <p:nvSpPr>
          <p:cNvPr id="5" name="Text 2"/>
          <p:cNvSpPr txBox="1"/>
          <p:nvPr/>
        </p:nvSpPr>
        <p:spPr>
          <a:xfrm>
            <a:off x="548640" y="1691640"/>
            <a:ext cx="10972800" cy="17373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Same chairs. Same sessions.</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Fewer people arriving in danger.</a:t>
            </a:r>
            <a:endParaRPr lang="en-US" sz="4000" dirty="0"/>
          </a:p>
        </p:txBody>
      </p:sp>
      <p:sp>
        <p:nvSpPr>
          <p:cNvPr id="6" name="Text 3"/>
          <p:cNvSpPr txBox="1"/>
          <p:nvPr/>
        </p:nvSpPr>
        <p:spPr>
          <a:xfrm>
            <a:off x="548640" y="3520440"/>
            <a:ext cx="10972800" cy="1097280"/>
          </a:xfrm>
          <a:prstGeom prst="rect">
            <a:avLst/>
          </a:prstGeom>
          <a:noFill/>
          <a:ln/>
        </p:spPr>
        <p:txBody>
          <a:bodyPr wrap="square" lIns="0" tIns="0" rIns="0" bIns="0" rtlCol="0" anchor="ctr"/>
          <a:lstStyle/>
          <a:p>
            <a:pPr indent="0" marL="0">
              <a:spcAft>
                <a:spcPts val="400"/>
              </a:spcAft>
              <a:buNone/>
            </a:pPr>
            <a:r>
              <a:rPr lang="en-US" sz="1500" dirty="0">
                <a:solidFill>
                  <a:srgbClr val="5EEAD4"/>
                </a:solidFill>
                <a:latin typeface="Calibri" pitchFamily="34" charset="0"/>
                <a:ea typeface="Calibri" pitchFamily="34" charset="-122"/>
                <a:cs typeface="Calibri" pitchFamily="34" charset="-120"/>
              </a:rPr>
              <a:t>Antaral  ·  Team Between Beats  ·  Nishant Majumdar, VIT Bhopal University</a:t>
            </a:r>
            <a:endParaRPr lang="en-US" sz="1500" dirty="0"/>
          </a:p>
          <a:p>
            <a:pPr indent="0" marL="0">
              <a:spcAft>
                <a:spcPts val="400"/>
              </a:spcAft>
              <a:buNone/>
            </a:pPr>
            <a:r>
              <a:rPr lang="en-US" sz="1500" dirty="0">
                <a:solidFill>
                  <a:srgbClr val="B8D4D0"/>
                </a:solidFill>
                <a:latin typeface="Calibri" pitchFamily="34" charset="0"/>
                <a:ea typeface="Calibri" pitchFamily="34" charset="-122"/>
                <a:cs typeface="Calibri" pitchFamily="34" charset="-120"/>
              </a:rPr>
              <a:t>github.com/SillyMarvellousChad/BetweenBeats_VIT-Bhopal-University</a:t>
            </a:r>
            <a:endParaRPr lang="en-US" sz="1500" dirty="0"/>
          </a:p>
          <a:p>
            <a:pPr indent="0" marL="0">
              <a:spcAft>
                <a:spcPts val="400"/>
              </a:spcAft>
              <a:buNone/>
            </a:pPr>
            <a:r>
              <a:rPr lang="en-US" sz="1200" dirty="0">
                <a:solidFill>
                  <a:srgbClr val="8FB0AC"/>
                </a:solidFill>
                <a:latin typeface="Calibri" pitchFamily="34" charset="0"/>
                <a:ea typeface="Calibri" pitchFamily="34" charset="-122"/>
                <a:cs typeface="Calibri" pitchFamily="34" charset="-120"/>
              </a:rPr>
              <a:t>Research prototype for clinician decision support. Synthetic data only. Not a medical device.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Antaral — Team Between Beats</dc:title>
  <dc:subject>PptxGenJS Presentation</dc:subject>
  <dc:creator>Nishant Majumdar</dc:creator>
  <cp:lastModifiedBy>Nishant Majumdar</cp:lastModifiedBy>
  <cp:revision>1</cp:revision>
  <dcterms:created xsi:type="dcterms:W3CDTF">2026-10-01T20:00:45Z</dcterms:created>
  <dcterms:modified xsi:type="dcterms:W3CDTF">2026-10-01T20:00:45Z</dcterms:modified>
</cp:coreProperties>
</file>